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5"/>
  </p:notesMasterIdLst>
  <p:sldIdLst>
    <p:sldId id="256" r:id="rId5"/>
    <p:sldId id="257" r:id="rId6"/>
    <p:sldId id="371" r:id="rId7"/>
    <p:sldId id="415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7" r:id="rId19"/>
    <p:sldId id="388" r:id="rId20"/>
    <p:sldId id="417" r:id="rId21"/>
    <p:sldId id="418" r:id="rId22"/>
    <p:sldId id="416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389" r:id="rId33"/>
    <p:sldId id="390" r:id="rId34"/>
    <p:sldId id="391" r:id="rId35"/>
    <p:sldId id="392" r:id="rId36"/>
    <p:sldId id="393" r:id="rId37"/>
    <p:sldId id="429" r:id="rId38"/>
    <p:sldId id="432" r:id="rId39"/>
    <p:sldId id="433" r:id="rId40"/>
    <p:sldId id="434" r:id="rId41"/>
    <p:sldId id="435" r:id="rId42"/>
    <p:sldId id="436" r:id="rId43"/>
    <p:sldId id="299" r:id="rId44"/>
    <p:sldId id="345" r:id="rId45"/>
    <p:sldId id="300" r:id="rId46"/>
    <p:sldId id="346" r:id="rId47"/>
    <p:sldId id="302" r:id="rId48"/>
    <p:sldId id="347" r:id="rId49"/>
    <p:sldId id="407" r:id="rId50"/>
    <p:sldId id="408" r:id="rId51"/>
    <p:sldId id="409" r:id="rId52"/>
    <p:sldId id="410" r:id="rId53"/>
    <p:sldId id="411" r:id="rId54"/>
    <p:sldId id="437" r:id="rId55"/>
    <p:sldId id="438" r:id="rId56"/>
    <p:sldId id="363" r:id="rId57"/>
    <p:sldId id="364" r:id="rId58"/>
    <p:sldId id="365" r:id="rId59"/>
    <p:sldId id="366" r:id="rId60"/>
    <p:sldId id="367" r:id="rId61"/>
    <p:sldId id="368" r:id="rId62"/>
    <p:sldId id="369" r:id="rId63"/>
    <p:sldId id="370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02516C-4199-4D9F-93A1-E7509EDB7286}" v="73" dt="2026-02-11T19:19:11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74904" autoAdjust="0"/>
  </p:normalViewPr>
  <p:slideViewPr>
    <p:cSldViewPr snapToGrid="0">
      <p:cViewPr varScale="1">
        <p:scale>
          <a:sx n="81" d="100"/>
          <a:sy n="81" d="100"/>
        </p:scale>
        <p:origin x="17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747FC-B9FC-4317-A7AC-005EC1BA339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B2489-0EE5-4C7F-94A6-A858195D05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50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2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into what Base R is here. Do a bunch of stuff from Matt’s code.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1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2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2BB2-A711-765D-DFF4-78A91FC3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1F409-0A72-40AF-BD61-F9B57A12F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C2681-5428-E28F-1215-98F57C83A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5BE8F-DFA1-2FBB-5DFA-926DBF247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00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Can’t get more basic than this</a:t>
            </a:r>
          </a:p>
          <a:p>
            <a:endParaRPr lang="en-US" dirty="0"/>
          </a:p>
          <a:p>
            <a:r>
              <a:rPr lang="en-US" dirty="0"/>
              <a:t>Here’s an RStudio window, and zooming in on the Console…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1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Already, there are some insights!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R does math … which is reassuring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You can even think of R like a calculator: Each line can be its own operation, which takes the pressure off!  You don’t have to write a complete “program” to see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59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 see about the DIFFERENCES in how these two lines evaluated? </a:t>
            </a:r>
          </a:p>
          <a:p>
            <a:endParaRPr lang="en-US" dirty="0"/>
          </a:p>
          <a:p>
            <a:r>
              <a:rPr lang="en-US" dirty="0"/>
              <a:t>What does that tell 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81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this line?  What happened?  (it took the square root of 49!)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Maybe more generally, R uses FUNCTIONS.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Here’s a little bit of R terminology: the inputs (or … stuff that go inside the parentheses) are referred to as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74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tell us?  Case sensitivity.</a:t>
            </a:r>
          </a:p>
          <a:p>
            <a:r>
              <a:rPr lang="en-US" dirty="0"/>
              <a:t>--</a:t>
            </a:r>
          </a:p>
          <a:p>
            <a:r>
              <a:rPr lang="en-US" dirty="0"/>
              <a:t>But, maybe a MORE important insight: ERRORS HAPPEN!  And with every error, we get a message that might give us some clues as to what went wrong</a:t>
            </a:r>
          </a:p>
          <a:p>
            <a:endParaRPr lang="en-US" dirty="0"/>
          </a:p>
          <a:p>
            <a:r>
              <a:rPr lang="en-US" dirty="0"/>
              <a:t>Note: the “could not find function” probably just means something is spelled wrong (or in this case, capitalized wrong)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6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these TWO lines?  What happened?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Meaning of life, adjusted for inflation?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54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</a:t>
            </a:r>
          </a:p>
          <a:p>
            <a:r>
              <a:rPr lang="en-US" dirty="0"/>
              <a:t>… you can store variables using this angle bracket hyphen thingy that looks like a leftward arrow…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96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we stored one number … but you’ve probably got a lot more than that!</a:t>
            </a:r>
          </a:p>
          <a:p>
            <a:r>
              <a:rPr lang="en-US" dirty="0"/>
              <a:t>Introducing the c() function (c for concatenate)</a:t>
            </a:r>
          </a:p>
          <a:p>
            <a:endParaRPr lang="en-US" dirty="0"/>
          </a:p>
          <a:p>
            <a:r>
              <a:rPr lang="en-US" dirty="0"/>
              <a:t>…and this is an important enough concept that it gets its own name.  If it’s helpful, you can think of a vector as being like ONE COLUMN of a spreadsheet.</a:t>
            </a:r>
          </a:p>
          <a:p>
            <a:endParaRPr lang="en-US" dirty="0"/>
          </a:p>
          <a:p>
            <a:r>
              <a:rPr lang="en-US" dirty="0"/>
              <a:t>And by the way: you won’t have to type stuff by hand like this very often: Most of the time you’ll be reading data from an external file.</a:t>
            </a:r>
          </a:p>
          <a:p>
            <a:endParaRPr lang="en-US" dirty="0"/>
          </a:p>
          <a:p>
            <a:r>
              <a:rPr lang="en-US" dirty="0"/>
              <a:t>BUT it’s worth looking at some simplified examples first, so you’ll have an intuition for how things will behave once it’s read INTO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45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so here’s a silly example</a:t>
            </a:r>
          </a:p>
          <a:p>
            <a:endParaRPr lang="en-US" dirty="0"/>
          </a:p>
          <a:p>
            <a:r>
              <a:rPr lang="en-US" dirty="0"/>
              <a:t>… we get a vector OUT, and check out how this works: </a:t>
            </a:r>
          </a:p>
          <a:p>
            <a:endParaRPr lang="en-US" dirty="0"/>
          </a:p>
          <a:p>
            <a:r>
              <a:rPr lang="en-US" dirty="0"/>
              <a:t>If it’s useful, you can think of this like dragging a formula down in Excel – and just like Excel, the RELATIVE POSITION gets preserved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768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hear you thinking, what happens when you mix vectors and single numbers?</a:t>
            </a:r>
          </a:p>
          <a:p>
            <a:endParaRPr lang="en-US" dirty="0"/>
          </a:p>
          <a:p>
            <a:r>
              <a:rPr lang="en-US" dirty="0"/>
              <a:t>… you get a vector out, but it adds one to ALL elements</a:t>
            </a:r>
          </a:p>
          <a:p>
            <a:endParaRPr lang="en-US" dirty="0"/>
          </a:p>
          <a:p>
            <a:r>
              <a:rPr lang="en-US" dirty="0"/>
              <a:t>So maybe this is how it works in Excel land?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29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 couple more ways of making a vector from scratch…</a:t>
            </a:r>
          </a:p>
          <a:p>
            <a:endParaRPr lang="en-US" dirty="0"/>
          </a:p>
          <a:p>
            <a:r>
              <a:rPr lang="en-US" dirty="0"/>
              <a:t>Another tool is the colon operator, which makes an integer sequence</a:t>
            </a:r>
          </a:p>
          <a:p>
            <a:r>
              <a:rPr lang="en-US" dirty="0"/>
              <a:t>also sounds like a laxative XD</a:t>
            </a:r>
          </a:p>
          <a:p>
            <a:endParaRPr lang="en-US" dirty="0"/>
          </a:p>
          <a:p>
            <a:r>
              <a:rPr lang="en-US" dirty="0"/>
              <a:t>Oh, and remember that [1] thing in square brackets we kept seeing?  Now what do you think it means?</a:t>
            </a:r>
          </a:p>
          <a:p>
            <a:r>
              <a:rPr lang="en-US" dirty="0"/>
              <a:t>It’s just saying where each line of printed output starts!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7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seq() function…</a:t>
            </a:r>
          </a:p>
          <a:p>
            <a:endParaRPr lang="en-US" dirty="0"/>
          </a:p>
          <a:p>
            <a:r>
              <a:rPr lang="en-US" dirty="0"/>
              <a:t>Now before you try memorizing all the different arguments you see here, I actually want to call attention to two things:</a:t>
            </a:r>
          </a:p>
          <a:p>
            <a:r>
              <a:rPr lang="en-US" dirty="0"/>
              <a:t>- there’s often multiple ways of doing the same thing</a:t>
            </a:r>
          </a:p>
          <a:p>
            <a:r>
              <a:rPr lang="en-US" dirty="0"/>
              <a:t>- functions can have multiple possible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87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224B-5DAB-0485-41D9-D8885D62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3B532-438D-8A3B-BDFD-A0DDAAFAD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2DFEA-F6E7-4E0C-B06C-4C9B3ED81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DA4E3-BD0C-A031-FB8C-995C6EF3C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38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E742-D6D2-0B07-1890-7C7A595F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47EFD-7F80-FA57-EB09-4A93F8CD9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3838D-AABA-43C7-E7AB-C980626D2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we’ve just seen numbers, but R can also store other things</a:t>
            </a:r>
          </a:p>
          <a:p>
            <a:endParaRPr lang="en-US" dirty="0"/>
          </a:p>
          <a:p>
            <a:r>
              <a:rPr lang="en-US" dirty="0"/>
              <a:t>Logical is simpler, it can only be TRUE or FALSE</a:t>
            </a:r>
          </a:p>
          <a:p>
            <a:endParaRPr lang="en-US" dirty="0"/>
          </a:p>
          <a:p>
            <a:r>
              <a:rPr lang="en-US" dirty="0"/>
              <a:t>With Character, you can store text</a:t>
            </a:r>
          </a:p>
          <a:p>
            <a:endParaRPr lang="en-US" dirty="0"/>
          </a:p>
          <a:p>
            <a:r>
              <a:rPr lang="en-US" dirty="0"/>
              <a:t>And things can be changed into a MORE COMPLEX class without losing information.  …which will make sense in a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9759A-4C77-2204-3448-EEC228BA1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7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34FF-66C2-B46F-30EB-C029D5ED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E2B5E-F5F4-598D-3BE2-88F4CE79E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865-D50E-9C98-219D-943BB8E25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first …  it’s generally pretty intuitive what can and can’t happen…</a:t>
            </a:r>
          </a:p>
          <a:p>
            <a:endParaRPr lang="en-US" dirty="0"/>
          </a:p>
          <a:p>
            <a:r>
              <a:rPr lang="en-US" dirty="0"/>
              <a:t>Notice that wrapping “2” in quotes tells R to treat it as Character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00535-2A92-35D1-B080-78DC2F3893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34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261CB-1C9B-FFCB-8F2E-F18FC38FB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FE8A2-9859-B3F9-A330-37E88D48A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443B9-0297-2C42-31B4-A8013DCB9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…lets look at what happens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51820-8C6B-1E58-FBCD-AE92A7C815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6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C777-C24F-A214-8CBB-455C7BCB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3A841-72CB-0A21-0F1E-E05EF440C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6227A-0829-3A65-59F9-1E342504E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more importantly….</a:t>
            </a:r>
          </a:p>
          <a:p>
            <a:endParaRPr lang="en-US" dirty="0"/>
          </a:p>
          <a:p>
            <a:r>
              <a:rPr lang="en-US" dirty="0"/>
              <a:t>…and I put this one in bold because this is DIFFERENT FROM EXCEL!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B5152-A2C9-DED6-7E98-0ED23169C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57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C2192-7D9F-EF97-BEAF-3242C3361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AB080-FFDB-E8AE-D724-038EC4C3F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C7BD1-8EBE-EE07-7D33-B63745F1D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to bring it all home, just remember: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Side note: this is one of THE most common data errors!</a:t>
            </a:r>
          </a:p>
          <a:p>
            <a:r>
              <a:rPr lang="en-US" dirty="0"/>
              <a:t>Personal favorite: number with a trailing space (someone pranking the biometrician??)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36BD3-5FD2-E4E9-2907-7798F35FF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25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4B3C-1803-DF07-8983-F160D5C50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F099D-85B2-23B2-8FFD-B7145DC45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C42F8-1348-1193-F747-4F70EF7C4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can feel you asking: YES, we can change classes manually.  Mostly.</a:t>
            </a:r>
          </a:p>
          <a:p>
            <a:endParaRPr lang="en-US" dirty="0"/>
          </a:p>
          <a:p>
            <a:r>
              <a:rPr lang="en-US" dirty="0"/>
              <a:t>…so here we see this Character vector we made a couple slides ago</a:t>
            </a:r>
          </a:p>
          <a:p>
            <a:endParaRPr lang="en-US" dirty="0"/>
          </a:p>
          <a:p>
            <a:r>
              <a:rPr lang="en-US" dirty="0"/>
              <a:t>And when we turn it back to numeric, it doesn’t know what to do with the last element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1421-20C7-8B3B-8F92-87CA5443D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97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DB97D-D05A-924B-9463-5423FCF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2B68B-7ED4-530D-560C-2234B1F68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0B94D-A340-A17A-70F9-C2CF8F4D1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last vector class that can be useful if you’re working with DISTINCT CATEGORIES is Factor</a:t>
            </a:r>
          </a:p>
          <a:p>
            <a:endParaRPr lang="en-US" dirty="0"/>
          </a:p>
          <a:p>
            <a:r>
              <a:rPr lang="en-US" dirty="0"/>
              <a:t>So we created a vector two ways: look at the difference in how R behaves</a:t>
            </a:r>
          </a:p>
          <a:p>
            <a:r>
              <a:rPr lang="en-US" dirty="0"/>
              <a:t>- the Factor version carries another piece of information: what categories are allowed</a:t>
            </a:r>
          </a:p>
          <a:p>
            <a:endParaRPr lang="en-US" dirty="0"/>
          </a:p>
          <a:p>
            <a:r>
              <a:rPr lang="en-US" dirty="0"/>
              <a:t>And this is a little odd: R will actually let you convert factor to numeric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015B8-85EB-66F0-EB96-B6DF1168A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693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FF74-6AFE-4E68-3937-64489856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BCC7D-48DC-2D23-F497-144F64BC9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49A2A-B153-8339-D777-244C0AECD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might feel like splitting hairs, but since we’re talking about the differences, we should probably talk about when to use which.</a:t>
            </a:r>
          </a:p>
          <a:p>
            <a:endParaRPr lang="en-US" dirty="0"/>
          </a:p>
          <a:p>
            <a:r>
              <a:rPr lang="en-US" dirty="0"/>
              <a:t>But IN PRACTICE, it actually matters a little less than it might seem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E9984-A050-8D40-127E-F4CDA17E8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62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ABF44-3AF5-C901-D17F-52A73783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66841-277C-96E2-454D-549F14C0A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899A2-6BA9-90B7-8B23-F3FC87840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091E-CD91-BB0C-DAA0-AADB61B01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87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thankfully, you don’t have to memorize all the things, because there is HELP!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54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so let’s build the vocabulary a little.</a:t>
            </a:r>
          </a:p>
          <a:p>
            <a:endParaRPr lang="en-US" dirty="0"/>
          </a:p>
          <a:p>
            <a:r>
              <a:rPr lang="en-US" dirty="0"/>
              <a:t>We have all the math things: addition, subtraction, multiplication, division, and exponents</a:t>
            </a:r>
          </a:p>
          <a:p>
            <a:r>
              <a:rPr lang="en-US" dirty="0"/>
              <a:t>We can also use parentheses as needed when we’re doing math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260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more math things: square root, log, exponential, absolute value</a:t>
            </a:r>
          </a:p>
          <a:p>
            <a:endParaRPr lang="en-US" dirty="0"/>
          </a:p>
          <a:p>
            <a:r>
              <a:rPr lang="en-US" dirty="0"/>
              <a:t>Notice that when we put a vector in, we get a vector out.</a:t>
            </a:r>
          </a:p>
          <a:p>
            <a:r>
              <a:rPr lang="en-US" dirty="0"/>
              <a:t>You’ll also notice we had to tell R that it was a vector!  How did we do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37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more math things that only make sense with a vector input</a:t>
            </a:r>
          </a:p>
          <a:p>
            <a:r>
              <a:rPr lang="en-US" dirty="0"/>
              <a:t>Sum, product, mean, median, quantile, standard deviation, and variance</a:t>
            </a:r>
          </a:p>
          <a:p>
            <a:endParaRPr lang="en-US" dirty="0"/>
          </a:p>
          <a:p>
            <a:r>
              <a:rPr lang="en-US" dirty="0"/>
              <a:t>There’s more, this is just a few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31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important R thing we need to talk about is NA, which is R’s way of handling blanks.</a:t>
            </a:r>
          </a:p>
          <a:p>
            <a:endParaRPr lang="en-US" dirty="0"/>
          </a:p>
          <a:p>
            <a:r>
              <a:rPr lang="en-US" dirty="0"/>
              <a:t>--</a:t>
            </a:r>
          </a:p>
          <a:p>
            <a:r>
              <a:rPr lang="en-US" dirty="0"/>
              <a:t>What happens when we try to take a mean of a vector that contains a missing value?  Well, we don’t KNOW what the mean is!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621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F76D-467E-7B18-6C15-D7775251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AE526-CAD3-D46F-A9D3-E101655CB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70532-E687-588F-3726-9BE638C68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notice I named this session “Poke the Box”, which I think is a productive mentality when approaching a new programming language.</a:t>
            </a:r>
          </a:p>
          <a:p>
            <a:endParaRPr lang="en-US" dirty="0"/>
          </a:p>
          <a:p>
            <a:r>
              <a:rPr lang="en-US" dirty="0"/>
              <a:t>The basic mentality: TRY STUFF – see what happens.  What can we learn?</a:t>
            </a:r>
          </a:p>
          <a:p>
            <a:endParaRPr lang="en-US" dirty="0"/>
          </a:p>
          <a:p>
            <a:r>
              <a:rPr lang="en-US" dirty="0"/>
              <a:t>We’ll start by looking at some (maybe painfully) basic input &amp; output, and talk about what insights we can gain.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AB807-7BAB-658A-76B7-22BE98464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719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we’ve seen vectors, which is just data IN ORDER, and that’s what I mean by one dimension.</a:t>
            </a:r>
          </a:p>
          <a:p>
            <a:endParaRPr lang="en-US" dirty="0"/>
          </a:p>
          <a:p>
            <a:r>
              <a:rPr lang="en-US" dirty="0"/>
              <a:t>And square brackets (which is a special character we’ve seen) let us grab a SUBSET of a vector</a:t>
            </a:r>
          </a:p>
          <a:p>
            <a:endParaRPr lang="en-US" dirty="0"/>
          </a:p>
          <a:p>
            <a:r>
              <a:rPr lang="en-US" dirty="0"/>
              <a:t>Notice that a single number in the square brackets pulls out a single number, and a vector in the square brackets pulls out a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902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you can also use indices in square brackets to make assignments to subsets of a vector</a:t>
            </a:r>
          </a:p>
          <a:p>
            <a:endParaRPr lang="en-US" dirty="0"/>
          </a:p>
          <a:p>
            <a:r>
              <a:rPr lang="en-US" dirty="0"/>
              <a:t>Check out what happens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63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the next step towards something that would actually look like data is called a MATRIX.</a:t>
            </a:r>
          </a:p>
          <a:p>
            <a:endParaRPr lang="en-US" dirty="0"/>
          </a:p>
          <a:p>
            <a:r>
              <a:rPr lang="en-US" dirty="0"/>
              <a:t>Now we have rows AND columns, so we need to account for that.</a:t>
            </a:r>
          </a:p>
          <a:p>
            <a:endParaRPr lang="en-US" dirty="0"/>
          </a:p>
          <a:p>
            <a:r>
              <a:rPr lang="en-US" dirty="0"/>
              <a:t>NOTICE that when we print matrix A, it gives us some clues as to how to take it apart</a:t>
            </a:r>
          </a:p>
          <a:p>
            <a:endParaRPr lang="en-US" dirty="0"/>
          </a:p>
          <a:p>
            <a:r>
              <a:rPr lang="en-US" dirty="0"/>
              <a:t>So you can refer to a single element by its row AND column, with a comma in between</a:t>
            </a:r>
          </a:p>
          <a:p>
            <a:endParaRPr lang="en-US" dirty="0"/>
          </a:p>
          <a:p>
            <a:r>
              <a:rPr lang="en-US" dirty="0"/>
              <a:t>OR you can grab a whole row or column … or multiple rows or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634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just like with vectors, you can use indices in square brackets to assign stuff!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32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actually introduced matrices so I could talk about </a:t>
            </a:r>
            <a:r>
              <a:rPr lang="en-US" dirty="0" err="1"/>
              <a:t>data.frames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VAST MAJORITY OF THE TIME, this is what you’ll be working with!</a:t>
            </a:r>
          </a:p>
          <a:p>
            <a:endParaRPr lang="en-US" dirty="0"/>
          </a:p>
          <a:p>
            <a:r>
              <a:rPr lang="en-US" dirty="0"/>
              <a:t>You’ll notice that the same rules apply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93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an EVEN BETTER WAY to get to columns of a </a:t>
            </a:r>
            <a:r>
              <a:rPr lang="en-US" dirty="0" err="1"/>
              <a:t>data.frame</a:t>
            </a:r>
            <a:r>
              <a:rPr lang="en-US" dirty="0"/>
              <a:t> is by NAME, using the dollar sign operator</a:t>
            </a:r>
          </a:p>
          <a:p>
            <a:endParaRPr lang="en-US" dirty="0"/>
          </a:p>
          <a:p>
            <a:r>
              <a:rPr lang="en-US" dirty="0"/>
              <a:t>And this is a big one, so we’ll put it in bold.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37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Alright!  Let’s revisit the main points we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428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296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41F79-A257-9991-C797-F431CBB5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FF315-4815-E0A3-F376-09E0B4526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F630B-F567-4285-3F2C-47B3C48FD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E439A-2E23-DCE1-DB1C-633C7742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576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Write  a script for computing moving averages with base R and moving averages with zoo package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378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49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2AC2-5A3F-7CFF-BD9A-315E77BA2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F3A4D-71DE-D358-F4E8-7074134A7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AE0CC-FCFF-BE52-578B-7244B7525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this, go over to the IDE to walk through this example with everyone.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860A2-EDF2-1C65-D4FE-AC0E49C68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B2489-0EE5-4C7F-94A6-A858195D056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48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C7E3D-3764-F7E8-71C2-CBACE06A2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D592A-0230-B896-84E4-8C6D770E7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C22C6-2E6A-2783-D473-EAAC566C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30D3-C470-7D1A-8F12-CCFFED93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FA00B-D87F-9761-654B-B9EC68DF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4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2628-F987-1CF9-68A3-442B9D5C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1EC3C-EC0F-7244-3DA2-7AD4D339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085D-89CD-715C-4A0E-AA33E85A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D7026-61EA-FB7D-F435-DFBAA08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2902E-816D-BB5D-CE0A-AC693C5D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93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3FD8D-1397-4837-0ED8-48D88BEC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61878-5716-AF15-DD85-0DC2E87E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B8A9E-44FC-090C-6F7E-079B305C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6FA4-563C-7A05-6B06-42606664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FD2D3-4F0E-0C87-453D-7AF92BDE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67F4-C826-E7A1-AF43-07838C6A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7A9EA-4C96-7B8E-5E14-413F3BAC1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6223A-E13A-083E-6C22-C066EAC6A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241AC-21C0-FB63-6F03-6DEFB27F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9F6EA-BF95-D909-AB8E-BA8A887C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BDF5A-A852-EE63-63C0-94089F58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9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3064B-2D72-8801-9C55-CAF9972E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3E820-5101-5AF2-5467-07C81CB76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6A9AE-049B-BF55-349A-B21D700F5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B5D80-C561-C295-0BCD-1C65A1109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88DE6-58DC-725D-20A8-A5607842C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C7C1A-42DB-E104-AD23-9E278CC8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276AC-2FBA-9A68-2645-239F9BF1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4CD87-1DE1-A7EB-3ADD-B63ED81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B368-0C98-2C2E-E651-358B5CE7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F79D9-3021-DE2C-8ABB-F4F3F237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4FD3F-382E-DD7E-B658-424AFA4A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44E45-62AF-B982-E45D-887FFD7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BBB2D-E0B4-FA14-BD83-EA783259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1270C-E2DF-2AC4-D06C-643CCA15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7637-1424-9EC9-122E-133A22AE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1AFB-5E83-CEA1-741D-305C8E55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CD0E-D71A-1267-F8CC-424010A86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F2C89-8B0E-F9D4-B6E9-A46372006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6AC24-8312-A070-1986-51D6F9C9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30840-4603-6AA9-9760-60A5FC28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D773-330B-AB4D-24E5-4F21E224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4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8B08-D4BA-2C46-27BC-CD353708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BCC1F-9E35-1D87-5DB9-F0A1627D8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1CD3D-2758-BE02-8C77-4718D7F36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61CDF-32A8-7F4F-453C-0397AE0A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D5EE9-B887-BB86-59FE-566968FE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C791D-E265-CBC7-6423-456DF141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1ACA-FE87-9546-62E2-BBAC4402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BC150-11B4-C4B8-05F4-24AC63FDF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7E787-6FCA-F361-AA1C-3984A915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4DEDA-0D18-B3D4-6B11-088315A8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88039-632A-830D-2F9C-88F64B9F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6E2E1-5608-4CFD-B720-2244C2CEE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9D8F7-544B-BB72-73DC-A7BC24B3F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F57E-2519-EF8F-3F0D-49E85B92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D1D88-ACC8-A801-0A4C-FC091EBE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2B91A-474C-DE7F-4D53-D33CEE8B9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B073A-04B8-561E-8151-DB7C2395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ED7C0-0FE6-C8B7-D9CE-4A6257070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E3C14-D5B7-D44B-13E8-40F5C202A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5AAE2-11C8-4D46-A716-B78E4D7C1BC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6D05-89D1-5A8A-44CD-16BD67E38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0684F-4C70-4CC6-A110-EC60BEED4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925C1-3627-46EA-952A-0FBA8E0B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0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7BE6-0E9D-86B5-BF36-15BE60D3C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/>
          <a:lstStyle/>
          <a:p>
            <a:r>
              <a:rPr lang="en-US" dirty="0"/>
              <a:t>The Structure of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0C3B6-7E1F-85D0-B33F-0566902B2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C26DF792-F7E6-EBE6-F4CB-9D4469791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295" y="292264"/>
            <a:ext cx="2059252" cy="1595920"/>
          </a:xfrm>
          <a:prstGeom prst="rect">
            <a:avLst/>
          </a:prstGeom>
        </p:spPr>
      </p:pic>
      <p:pic>
        <p:nvPicPr>
          <p:cNvPr id="5" name="Graphic 4" descr="Double Tap Gesture with solid fill">
            <a:extLst>
              <a:ext uri="{FF2B5EF4-FFF2-40B4-BE49-F238E27FC236}">
                <a16:creationId xmlns:a16="http://schemas.microsoft.com/office/drawing/2014/main" id="{4CD7470F-CD1F-AA0E-16B8-5C4EB1855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7457" y="1502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8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Base 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7BCCC1C-6700-4F3C-2D5E-DD4AF2378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core language and built in functionality of R</a:t>
            </a:r>
          </a:p>
          <a:p>
            <a:r>
              <a:rPr lang="en-US" dirty="0"/>
              <a:t>You can do quite a lot with Base R, but it reads like a programming language (not always intuitive) </a:t>
            </a:r>
          </a:p>
          <a:p>
            <a:r>
              <a:rPr lang="en-US" dirty="0"/>
              <a:t>Let’s write a Base R script and see what we can do </a:t>
            </a:r>
          </a:p>
        </p:txBody>
      </p:sp>
    </p:spTree>
    <p:extLst>
      <p:ext uri="{BB962C8B-B14F-4D97-AF65-F5344CB8AC3E}">
        <p14:creationId xmlns:p14="http://schemas.microsoft.com/office/powerpoint/2010/main" val="3249120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7BE6-0E9D-86B5-BF36-15BE60D3C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/>
          <a:lstStyle/>
          <a:p>
            <a:r>
              <a:rPr lang="en-US" dirty="0"/>
              <a:t>R Programming Basics, in Base 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0C3B6-7E1F-85D0-B33F-0566902B2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</p:spTree>
    <p:extLst>
      <p:ext uri="{BB962C8B-B14F-4D97-AF65-F5344CB8AC3E}">
        <p14:creationId xmlns:p14="http://schemas.microsoft.com/office/powerpoint/2010/main" val="391827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2310-4983-5DED-8F3A-784F709D5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C89D-EB2B-E91C-864F-53E63C887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/>
          <a:lstStyle/>
          <a:p>
            <a:r>
              <a:rPr lang="en-US" dirty="0"/>
              <a:t>Easy Things with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E29D4-08FF-D998-D2C8-C6277FFF4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</p:spTree>
    <p:extLst>
      <p:ext uri="{BB962C8B-B14F-4D97-AF65-F5344CB8AC3E}">
        <p14:creationId xmlns:p14="http://schemas.microsoft.com/office/powerpoint/2010/main" val="211481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210" y="2463298"/>
            <a:ext cx="2494548" cy="139883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&gt; 1+1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7C5A9-69D6-343C-6914-49477DD8FC2D}"/>
              </a:ext>
            </a:extLst>
          </p:cNvPr>
          <p:cNvSpPr txBox="1"/>
          <p:nvPr/>
        </p:nvSpPr>
        <p:spPr>
          <a:xfrm>
            <a:off x="1700121" y="1805133"/>
            <a:ext cx="16851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was a “&gt;” with a flashing cursor after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EE53C-1456-281D-4E1A-3EB1CD4EF803}"/>
              </a:ext>
            </a:extLst>
          </p:cNvPr>
          <p:cNvSpPr txBox="1"/>
          <p:nvPr/>
        </p:nvSpPr>
        <p:spPr>
          <a:xfrm>
            <a:off x="4756484" y="1794619"/>
            <a:ext cx="1685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typed this and hit 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694BD1-BC16-A2E0-D490-62F043A4E57C}"/>
              </a:ext>
            </a:extLst>
          </p:cNvPr>
          <p:cNvSpPr txBox="1"/>
          <p:nvPr/>
        </p:nvSpPr>
        <p:spPr>
          <a:xfrm>
            <a:off x="5285190" y="2978051"/>
            <a:ext cx="168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 printed this!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2C24CB5-A116-5CF2-4F82-57A09479B40F}"/>
              </a:ext>
            </a:extLst>
          </p:cNvPr>
          <p:cNvCxnSpPr/>
          <p:nvPr/>
        </p:nvCxnSpPr>
        <p:spPr>
          <a:xfrm rot="16200000" flipH="1">
            <a:off x="3441277" y="2208063"/>
            <a:ext cx="323166" cy="187301"/>
          </a:xfrm>
          <a:prstGeom prst="bentConnector3">
            <a:avLst>
              <a:gd name="adj1" fmla="val -719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FA8A670-54B0-E67C-0477-A3777AEF09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43983" y="2140131"/>
            <a:ext cx="503622" cy="323165"/>
          </a:xfrm>
          <a:prstGeom prst="bentConnector3">
            <a:avLst>
              <a:gd name="adj1" fmla="val 10022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A81E23-F86E-59E1-AF3B-230ED9D0C446}"/>
              </a:ext>
            </a:extLst>
          </p:cNvPr>
          <p:cNvCxnSpPr/>
          <p:nvPr/>
        </p:nvCxnSpPr>
        <p:spPr>
          <a:xfrm flipH="1">
            <a:off x="4534388" y="3178630"/>
            <a:ext cx="6036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79E1783-8160-FC7B-683E-26F239B3D24C}"/>
              </a:ext>
            </a:extLst>
          </p:cNvPr>
          <p:cNvCxnSpPr>
            <a:cxnSpLocks/>
          </p:cNvCxnSpPr>
          <p:nvPr/>
        </p:nvCxnSpPr>
        <p:spPr>
          <a:xfrm rot="10800000">
            <a:off x="3814357" y="3553095"/>
            <a:ext cx="515387" cy="426912"/>
          </a:xfrm>
          <a:prstGeom prst="bentConnector3">
            <a:avLst>
              <a:gd name="adj1" fmla="val 100692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B21DB5-2986-414C-8110-F5F9018A19CD}"/>
              </a:ext>
            </a:extLst>
          </p:cNvPr>
          <p:cNvSpPr txBox="1"/>
          <p:nvPr/>
        </p:nvSpPr>
        <p:spPr>
          <a:xfrm>
            <a:off x="4433467" y="3731715"/>
            <a:ext cx="2002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ignore the [1] thing for now</a:t>
            </a:r>
          </a:p>
        </p:txBody>
      </p:sp>
      <p:pic>
        <p:nvPicPr>
          <p:cNvPr id="12" name="Picture 11" descr="Logo, icon&#10;&#10;Description automatically generated">
            <a:extLst>
              <a:ext uri="{FF2B5EF4-FFF2-40B4-BE49-F238E27FC236}">
                <a16:creationId xmlns:a16="http://schemas.microsoft.com/office/drawing/2014/main" id="{153D86EB-1DB7-897B-DE2F-405C99D27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295" y="292264"/>
            <a:ext cx="2059252" cy="1595920"/>
          </a:xfrm>
          <a:prstGeom prst="rect">
            <a:avLst/>
          </a:prstGeom>
        </p:spPr>
      </p:pic>
      <p:pic>
        <p:nvPicPr>
          <p:cNvPr id="17" name="Graphic 16" descr="Double Tap Gesture with solid fill">
            <a:extLst>
              <a:ext uri="{FF2B5EF4-FFF2-40B4-BE49-F238E27FC236}">
                <a16:creationId xmlns:a16="http://schemas.microsoft.com/office/drawing/2014/main" id="{FDC08932-A8A5-B135-0590-72EC59941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7457" y="1502356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2944C-25A9-2E0A-1B94-9619DB4C6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992" y="3143005"/>
            <a:ext cx="4286430" cy="312628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4A1B3F4-CA19-8B45-D5A4-8361F3E866A1}"/>
              </a:ext>
            </a:extLst>
          </p:cNvPr>
          <p:cNvSpPr/>
          <p:nvPr/>
        </p:nvSpPr>
        <p:spPr>
          <a:xfrm>
            <a:off x="7598228" y="5775915"/>
            <a:ext cx="631371" cy="609600"/>
          </a:xfrm>
          <a:prstGeom prst="ellipse">
            <a:avLst/>
          </a:prstGeom>
          <a:noFill/>
          <a:ln w="476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A14D94-62C5-176F-37FC-CDC548238CE4}"/>
              </a:ext>
            </a:extLst>
          </p:cNvPr>
          <p:cNvCxnSpPr>
            <a:cxnSpLocks/>
          </p:cNvCxnSpPr>
          <p:nvPr/>
        </p:nvCxnSpPr>
        <p:spPr>
          <a:xfrm flipH="1" flipV="1">
            <a:off x="5023262" y="5106390"/>
            <a:ext cx="2437546" cy="1163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5AE7F-5983-E92D-1BE0-20AFB999EC84}"/>
              </a:ext>
            </a:extLst>
          </p:cNvPr>
          <p:cNvCxnSpPr>
            <a:cxnSpLocks/>
          </p:cNvCxnSpPr>
          <p:nvPr/>
        </p:nvCxnSpPr>
        <p:spPr>
          <a:xfrm flipH="1" flipV="1">
            <a:off x="6578930" y="3731715"/>
            <a:ext cx="1385327" cy="1879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14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  <p:bldP spid="10" grpId="0"/>
      <p:bldP spid="15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6000" y="1072242"/>
            <a:ext cx="5550484" cy="2877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R does math!  </a:t>
            </a:r>
          </a:p>
          <a:p>
            <a:pPr lvl="1"/>
            <a:r>
              <a:rPr lang="en-US" dirty="0"/>
              <a:t>For now, you can think of it as a fancy calculator</a:t>
            </a:r>
          </a:p>
        </p:txBody>
      </p:sp>
    </p:spTree>
    <p:extLst>
      <p:ext uri="{BB962C8B-B14F-4D97-AF65-F5344CB8AC3E}">
        <p14:creationId xmlns:p14="http://schemas.microsoft.com/office/powerpoint/2010/main" val="418263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2"/>
            <a:ext cx="5810655" cy="5455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/>
              <a:t>R ignores whitespace </a:t>
            </a:r>
            <a:r>
              <a:rPr lang="en-US" u="sng" dirty="0"/>
              <a:t>between things</a:t>
            </a:r>
          </a:p>
          <a:p>
            <a:pPr lvl="1"/>
            <a:r>
              <a:rPr lang="en-US" dirty="0"/>
              <a:t>You can space things out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21887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of a robot&#10;&#10;Description automatically generated">
            <a:extLst>
              <a:ext uri="{FF2B5EF4-FFF2-40B4-BE49-F238E27FC236}">
                <a16:creationId xmlns:a16="http://schemas.microsoft.com/office/drawing/2014/main" id="{BC84DC85-C4BE-3F38-C39A-E29F2D86F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57" y="3799751"/>
            <a:ext cx="3569739" cy="25150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/>
              <a:t>[1] 7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2"/>
            <a:ext cx="5810655" cy="5455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ignores whitespace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between things</a:t>
            </a:r>
          </a:p>
          <a:p>
            <a:r>
              <a:rPr lang="en-US" dirty="0"/>
              <a:t>Base R has some built-in </a:t>
            </a:r>
            <a:r>
              <a:rPr lang="en-US" b="1" dirty="0"/>
              <a:t>functions</a:t>
            </a:r>
          </a:p>
          <a:p>
            <a:pPr lvl="1"/>
            <a:r>
              <a:rPr lang="en-US" dirty="0"/>
              <a:t>Things that go inside the parentheses (function inputs) are referred to as “</a:t>
            </a:r>
            <a:r>
              <a:rPr lang="en-US" b="1" dirty="0"/>
              <a:t>arguments</a:t>
            </a:r>
            <a:r>
              <a:rPr lang="en-US" dirty="0"/>
              <a:t>” of the function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F50CE8C-0A40-864A-EAD2-FF210DE1D6D3}"/>
              </a:ext>
            </a:extLst>
          </p:cNvPr>
          <p:cNvSpPr/>
          <p:nvPr/>
        </p:nvSpPr>
        <p:spPr>
          <a:xfrm rot="6673556">
            <a:off x="3798980" y="3641706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BF3342D-57C0-108E-8925-9B811F84FC18}"/>
              </a:ext>
            </a:extLst>
          </p:cNvPr>
          <p:cNvSpPr/>
          <p:nvPr/>
        </p:nvSpPr>
        <p:spPr>
          <a:xfrm rot="5074473">
            <a:off x="3303091" y="3576202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297E6AD-B48D-7CC2-A294-D3FAB3AE6573}"/>
              </a:ext>
            </a:extLst>
          </p:cNvPr>
          <p:cNvSpPr/>
          <p:nvPr/>
        </p:nvSpPr>
        <p:spPr>
          <a:xfrm rot="3236552">
            <a:off x="2841699" y="3752515"/>
            <a:ext cx="401162" cy="316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E82F009-2985-6464-548A-1899CC656CDA}"/>
              </a:ext>
            </a:extLst>
          </p:cNvPr>
          <p:cNvSpPr/>
          <p:nvPr/>
        </p:nvSpPr>
        <p:spPr>
          <a:xfrm rot="5400000">
            <a:off x="6175876" y="6068310"/>
            <a:ext cx="401162" cy="6373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8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    +    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7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Sqrt(49) : could not find function "Sqrt"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5999" y="1072241"/>
            <a:ext cx="5810655" cy="578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does math!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ignores whitespace </a:t>
            </a:r>
            <a:r>
              <a:rPr lang="en-US" u="sng" dirty="0">
                <a:solidFill>
                  <a:schemeClr val="bg1">
                    <a:lumMod val="65000"/>
                  </a:schemeClr>
                </a:solidFill>
              </a:rPr>
              <a:t>between things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 uses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functions</a:t>
            </a:r>
          </a:p>
          <a:p>
            <a:r>
              <a:rPr lang="en-US" dirty="0"/>
              <a:t>R is case-sensitive</a:t>
            </a:r>
          </a:p>
          <a:p>
            <a:r>
              <a:rPr lang="en-US" dirty="0"/>
              <a:t>Errors happen!!!</a:t>
            </a:r>
          </a:p>
          <a:p>
            <a:pPr lvl="1"/>
            <a:r>
              <a:rPr lang="en-US" dirty="0"/>
              <a:t>YOUR COMPUTER WILL NOT EXPLODE</a:t>
            </a:r>
          </a:p>
          <a:p>
            <a:pPr lvl="1"/>
            <a:r>
              <a:rPr lang="en-US" dirty="0"/>
              <a:t>“Errors are not problems, just puzzles” (Error messages might be clues)</a:t>
            </a:r>
          </a:p>
        </p:txBody>
      </p:sp>
    </p:spTree>
    <p:extLst>
      <p:ext uri="{BB962C8B-B14F-4D97-AF65-F5344CB8AC3E}">
        <p14:creationId xmlns:p14="http://schemas.microsoft.com/office/powerpoint/2010/main" val="109581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BF40-1106-059C-7EA6-E0E16337A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13" y="1471330"/>
            <a:ext cx="4535565" cy="49878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&lt;- 42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/>
              <a:t>[1] 42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meaningOfLife</a:t>
            </a:r>
            <a:r>
              <a:rPr lang="en-US" dirty="0">
                <a:solidFill>
                  <a:schemeClr val="accent1"/>
                </a:solidFill>
              </a:rPr>
              <a:t> + 1</a:t>
            </a:r>
          </a:p>
          <a:p>
            <a:pPr marL="0" indent="0">
              <a:buNone/>
            </a:pPr>
            <a:r>
              <a:rPr lang="en-US" dirty="0"/>
              <a:t>[1] 43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3506F7-748D-0E59-698A-43BD7510E31D}"/>
              </a:ext>
            </a:extLst>
          </p:cNvPr>
          <p:cNvSpPr txBox="1">
            <a:spLocks/>
          </p:cNvSpPr>
          <p:nvPr/>
        </p:nvSpPr>
        <p:spPr>
          <a:xfrm>
            <a:off x="3941875" y="3372555"/>
            <a:ext cx="4308249" cy="7286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i="1" dirty="0">
                <a:latin typeface="+mn-lt"/>
              </a:rPr>
              <a:t>What do you think will happen?</a:t>
            </a:r>
          </a:p>
        </p:txBody>
      </p:sp>
    </p:spTree>
    <p:extLst>
      <p:ext uri="{BB962C8B-B14F-4D97-AF65-F5344CB8AC3E}">
        <p14:creationId xmlns:p14="http://schemas.microsoft.com/office/powerpoint/2010/main" val="371071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/>
          <a:lstStyle/>
          <a:p>
            <a:r>
              <a:rPr lang="en-US" dirty="0"/>
              <a:t>Poke the </a:t>
            </a:r>
            <a:r>
              <a:rPr lang="en-US" strike="sngStrike" dirty="0"/>
              <a:t>box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R console!</a:t>
            </a:r>
            <a:endParaRPr lang="en-US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6096000" y="1072242"/>
            <a:ext cx="5916930" cy="5305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You can store variables using “</a:t>
            </a:r>
            <a:r>
              <a:rPr lang="en-US" b="1" dirty="0"/>
              <a:t>&lt;-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Sometimes people say “gets” as verbal shorthand</a:t>
            </a:r>
          </a:p>
          <a:p>
            <a:pPr lvl="1"/>
            <a:r>
              <a:rPr lang="en-US" dirty="0"/>
              <a:t>Terminology: this is sometimes referred to as an </a:t>
            </a:r>
            <a:r>
              <a:rPr lang="en-US" b="1" dirty="0"/>
              <a:t>assignment</a:t>
            </a:r>
            <a:r>
              <a:rPr lang="en-US" dirty="0"/>
              <a:t> statement</a:t>
            </a:r>
          </a:p>
          <a:p>
            <a:r>
              <a:rPr lang="en-US" b="1" dirty="0"/>
              <a:t>You can make names descriptive</a:t>
            </a:r>
          </a:p>
          <a:p>
            <a:pPr lvl="1"/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0BFCF2-B44B-9A91-8EDE-BAED75FE8AEF}"/>
              </a:ext>
            </a:extLst>
          </p:cNvPr>
          <p:cNvSpPr txBox="1">
            <a:spLocks/>
          </p:cNvSpPr>
          <p:nvPr/>
        </p:nvSpPr>
        <p:spPr>
          <a:xfrm>
            <a:off x="415813" y="1471330"/>
            <a:ext cx="4535565" cy="4987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&lt;- 42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[1] 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accent1"/>
                </a:solidFill>
              </a:rPr>
              <a:t>meaningOfLife + 1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[1] 43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5CFA07-9501-A5FD-1CBC-B23BEBCA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208" y="4132160"/>
            <a:ext cx="2625873" cy="26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3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/>
              <a:t>The </a:t>
            </a:r>
            <a:r>
              <a:rPr lang="en-US" b="1" dirty="0"/>
              <a:t>c( ) </a:t>
            </a:r>
            <a:r>
              <a:rPr lang="en-US" dirty="0"/>
              <a:t>function can be used to construct a </a:t>
            </a:r>
            <a:r>
              <a:rPr lang="en-US" b="1" dirty="0"/>
              <a:t>vector</a:t>
            </a:r>
            <a:r>
              <a:rPr lang="en-US" dirty="0"/>
              <a:t>, that is, an ordered set</a:t>
            </a:r>
          </a:p>
          <a:p>
            <a:pPr lvl="1"/>
            <a:r>
              <a:rPr lang="en-US" dirty="0"/>
              <a:t>Don’t worry, functions that read data directly from .csv, .txt, xlsx, etc. will be introduced soon!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/>
              <a:t>[1] 1 1 2 3 5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8DECF-556A-3466-A3F2-0E3C1B8A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365" y="3314523"/>
            <a:ext cx="9144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vector operations…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2413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most basic structure in R is a vector</a:t>
            </a:r>
          </a:p>
          <a:p>
            <a:r>
              <a:rPr lang="en-US" dirty="0"/>
              <a:t>Many (most) operations in R can be evaluated vector-wise</a:t>
            </a:r>
          </a:p>
          <a:p>
            <a:r>
              <a:rPr lang="en-US" dirty="0"/>
              <a:t>What does this mean?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c(10, 20, 30, 40, 50)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 &lt;- c(1, 2, 3, 4, 5)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* b</a:t>
            </a:r>
          </a:p>
          <a:p>
            <a:pPr marL="0" indent="0">
              <a:buNone/>
            </a:pPr>
            <a:r>
              <a:rPr lang="en-US" dirty="0"/>
              <a:t>[1]   10  40  90  160  250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14AEF-8921-1971-A1BD-5AF3218F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229" y="3643114"/>
            <a:ext cx="3609975" cy="20002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9B5044-0865-294C-25C5-B2F8C2956722}"/>
              </a:ext>
            </a:extLst>
          </p:cNvPr>
          <p:cNvSpPr txBox="1">
            <a:spLocks/>
          </p:cNvSpPr>
          <p:nvPr/>
        </p:nvSpPr>
        <p:spPr>
          <a:xfrm>
            <a:off x="5550103" y="4073795"/>
            <a:ext cx="1667126" cy="569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Mental model for Excel users: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14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vector operations…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3705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most basic structure in R is a vector</a:t>
            </a:r>
          </a:p>
          <a:p>
            <a:r>
              <a:rPr lang="en-US" dirty="0"/>
              <a:t>Many (most) operations in R can be evaluated vector-wise</a:t>
            </a:r>
          </a:p>
          <a:p>
            <a:r>
              <a:rPr lang="en-US" dirty="0"/>
              <a:t>What does this mean?</a:t>
            </a:r>
          </a:p>
          <a:p>
            <a:r>
              <a:rPr lang="en-US" dirty="0"/>
              <a:t>What happens when you mix vectors and single numbers?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c(10, 20, 30, 40, 50)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 &lt;- c(1, 2, 3, 4, 5)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 * b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  10  40  90  160  250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+ 1</a:t>
            </a:r>
          </a:p>
          <a:p>
            <a:pPr marL="0" indent="0">
              <a:buNone/>
            </a:pPr>
            <a:r>
              <a:rPr lang="en-US" dirty="0"/>
              <a:t>[1]   11  21  31  41  51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5D44E-EBBE-A521-CB69-A5BF82A3B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355" y="4533219"/>
            <a:ext cx="3609975" cy="19716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E5A1F5-F6F7-4915-6A32-8DC2E49F83FC}"/>
              </a:ext>
            </a:extLst>
          </p:cNvPr>
          <p:cNvSpPr txBox="1">
            <a:spLocks/>
          </p:cNvSpPr>
          <p:nvPr/>
        </p:nvSpPr>
        <p:spPr>
          <a:xfrm>
            <a:off x="5639229" y="5022002"/>
            <a:ext cx="1667126" cy="569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Mental model for Excel users: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31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c( 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can be used to construct a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vector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that is, an ordered set</a:t>
            </a:r>
          </a:p>
          <a:p>
            <a:r>
              <a:rPr lang="en-US" dirty="0"/>
              <a:t>The </a:t>
            </a:r>
            <a:r>
              <a:rPr lang="en-US" b="1" dirty="0"/>
              <a:t>:</a:t>
            </a:r>
            <a:r>
              <a:rPr lang="en-US" dirty="0"/>
              <a:t> operator can be used to construct a sequence of integers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4535565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 1 2 3 5 8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2014:2023</a:t>
            </a:r>
          </a:p>
          <a:p>
            <a:pPr marL="0" indent="0">
              <a:buNone/>
            </a:pPr>
            <a:r>
              <a:rPr lang="en-US" dirty="0"/>
              <a:t>[1] 2014 2015 2016 2017 </a:t>
            </a:r>
          </a:p>
          <a:p>
            <a:pPr marL="0" indent="0">
              <a:buNone/>
            </a:pPr>
            <a:r>
              <a:rPr lang="en-US" dirty="0"/>
              <a:t>[5] 2018 2019 2020 2021 </a:t>
            </a:r>
          </a:p>
          <a:p>
            <a:pPr marL="0" indent="0">
              <a:buNone/>
            </a:pPr>
            <a:r>
              <a:rPr lang="en-US" dirty="0"/>
              <a:t>[9] 2022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1B8A2-ADE5-2489-3347-0E64A42A5F4E}"/>
              </a:ext>
            </a:extLst>
          </p:cNvPr>
          <p:cNvSpPr txBox="1">
            <a:spLocks/>
          </p:cNvSpPr>
          <p:nvPr/>
        </p:nvSpPr>
        <p:spPr>
          <a:xfrm>
            <a:off x="622652" y="4535788"/>
            <a:ext cx="5572408" cy="18307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That weird [1] thing we keep seeing? It’s just R labeling where each line of output starts!</a:t>
            </a:r>
          </a:p>
        </p:txBody>
      </p:sp>
    </p:spTree>
    <p:extLst>
      <p:ext uri="{BB962C8B-B14F-4D97-AF65-F5344CB8AC3E}">
        <p14:creationId xmlns:p14="http://schemas.microsoft.com/office/powerpoint/2010/main" val="100445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What if I have more than one number?</a:t>
            </a:r>
            <a:endParaRPr lang="en-US" sz="3600" strike="sngStrik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386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First, a few new tools: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c( 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function can be used to construct a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vector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that is, an ordered set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: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operator can be used to construct a sequence of integers</a:t>
            </a:r>
          </a:p>
          <a:p>
            <a:r>
              <a:rPr lang="en-US" dirty="0"/>
              <a:t>The </a:t>
            </a:r>
            <a:r>
              <a:rPr lang="en-US" b="1" dirty="0"/>
              <a:t>seq( ) </a:t>
            </a:r>
            <a:r>
              <a:rPr lang="en-US" dirty="0"/>
              <a:t>function can be used to construct a custom sequence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783" y="1214636"/>
            <a:ext cx="5000173" cy="5386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c(1, 1, 2, 3, 5, 8)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 1 2 3 5 8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2014:2023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2014 2015 2016 2017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[5] 2018 2019 2020 2021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[9] 2022 2023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seq(from=0, to=1, by=0.2)</a:t>
            </a:r>
          </a:p>
          <a:p>
            <a:pPr marL="0" indent="0">
              <a:buNone/>
            </a:pPr>
            <a:r>
              <a:rPr lang="en-US" dirty="0"/>
              <a:t>[1] 0.0 0.2 0.4 0.6 0.8 1.0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seq(from=0, to=1, </a:t>
            </a:r>
            <a:r>
              <a:rPr lang="en-US" dirty="0" err="1">
                <a:solidFill>
                  <a:schemeClr val="accent1"/>
                </a:solidFill>
              </a:rPr>
              <a:t>length.out</a:t>
            </a:r>
            <a:r>
              <a:rPr lang="en-US" dirty="0">
                <a:solidFill>
                  <a:schemeClr val="accent1"/>
                </a:solidFill>
              </a:rPr>
              <a:t>=6)</a:t>
            </a:r>
          </a:p>
          <a:p>
            <a:pPr marL="0" indent="0">
              <a:buNone/>
            </a:pPr>
            <a:r>
              <a:rPr lang="en-US" dirty="0"/>
              <a:t>[1] 0.0 0.2 0.4 0.6 0.8 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CB561-4729-122E-74EB-613B42EEDD9E}"/>
              </a:ext>
            </a:extLst>
          </p:cNvPr>
          <p:cNvSpPr txBox="1">
            <a:spLocks/>
          </p:cNvSpPr>
          <p:nvPr/>
        </p:nvSpPr>
        <p:spPr>
          <a:xfrm>
            <a:off x="256892" y="4617266"/>
            <a:ext cx="5839108" cy="198429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There are often multiple ways to do the same thing in R</a:t>
            </a:r>
          </a:p>
          <a:p>
            <a:r>
              <a:rPr lang="en-US" dirty="0"/>
              <a:t>Functions can have multiple possible arguments</a:t>
            </a:r>
          </a:p>
        </p:txBody>
      </p:sp>
    </p:spTree>
    <p:extLst>
      <p:ext uri="{BB962C8B-B14F-4D97-AF65-F5344CB8AC3E}">
        <p14:creationId xmlns:p14="http://schemas.microsoft.com/office/powerpoint/2010/main" val="34832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E740-9157-4664-CA57-8A50A1FB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821E-8493-CF6E-EBDD-3BDC2A6F1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/>
          <a:lstStyle/>
          <a:p>
            <a:r>
              <a:rPr lang="en-US" dirty="0"/>
              <a:t>Other Data Types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6477C-5E78-AA21-AA7D-949A9F585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</p:spTree>
    <p:extLst>
      <p:ext uri="{BB962C8B-B14F-4D97-AF65-F5344CB8AC3E}">
        <p14:creationId xmlns:p14="http://schemas.microsoft.com/office/powerpoint/2010/main" val="1360914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935E1-5575-C69E-816E-372AFD0A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197" y="614342"/>
            <a:ext cx="10515600" cy="4351338"/>
          </a:xfrm>
        </p:spPr>
        <p:txBody>
          <a:bodyPr/>
          <a:lstStyle/>
          <a:p>
            <a:r>
              <a:rPr lang="en-US" dirty="0"/>
              <a:t>We just learned about the ways you can manipulate and store numbers in R</a:t>
            </a:r>
          </a:p>
          <a:p>
            <a:r>
              <a:rPr lang="en-US" dirty="0"/>
              <a:t>But what about other things that aren’t numbers?</a:t>
            </a:r>
          </a:p>
          <a:p>
            <a:r>
              <a:rPr lang="en-US" dirty="0"/>
              <a:t>R has several other data types that you can manipulate in similar ways to numbers!</a:t>
            </a:r>
          </a:p>
        </p:txBody>
      </p:sp>
    </p:spTree>
    <p:extLst>
      <p:ext uri="{BB962C8B-B14F-4D97-AF65-F5344CB8AC3E}">
        <p14:creationId xmlns:p14="http://schemas.microsoft.com/office/powerpoint/2010/main" val="196560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R Data Types - Scaler Topics">
            <a:extLst>
              <a:ext uri="{FF2B5EF4-FFF2-40B4-BE49-F238E27FC236}">
                <a16:creationId xmlns:a16="http://schemas.microsoft.com/office/drawing/2014/main" id="{1840BE18-56C0-D157-B971-05A286F7F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picture containing table&#10;&#10;AI-generated content may be incorrect.">
            <a:extLst>
              <a:ext uri="{FF2B5EF4-FFF2-40B4-BE49-F238E27FC236}">
                <a16:creationId xmlns:a16="http://schemas.microsoft.com/office/drawing/2014/main" id="{D485795E-1F64-EAD2-5150-E33E5F990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46" y="1218891"/>
            <a:ext cx="8649907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97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FACC-2D38-66E5-E751-AB49C467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6372-A998-C101-9F6D-2955E0F8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6" y="1"/>
            <a:ext cx="11362623" cy="914400"/>
          </a:xfrm>
        </p:spPr>
        <p:txBody>
          <a:bodyPr>
            <a:noAutofit/>
          </a:bodyPr>
          <a:lstStyle/>
          <a:p>
            <a:r>
              <a:rPr lang="en-US" sz="3600" dirty="0"/>
              <a:t>Classes of vectors: </a:t>
            </a:r>
            <a:r>
              <a:rPr lang="en-US" sz="3600" b="1" dirty="0"/>
              <a:t>R can store different kinds of information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B8DE4E-6E55-07CB-46DC-BC47F2033292}"/>
              </a:ext>
            </a:extLst>
          </p:cNvPr>
          <p:cNvGraphicFramePr>
            <a:graphicFrameLocks noGrp="1"/>
          </p:cNvGraphicFramePr>
          <p:nvPr/>
        </p:nvGraphicFramePr>
        <p:xfrm>
          <a:off x="1603007" y="2369185"/>
          <a:ext cx="7513320" cy="2951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  <a:gridCol w="3840419">
                  <a:extLst>
                    <a:ext uri="{9D8B030D-6E8A-4147-A177-3AD203B41FA5}">
                      <a16:colId xmlns:a16="http://schemas.microsoft.com/office/drawing/2014/main" val="3509737584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6563915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Possible values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can be used in mathematical expressions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1136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logical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FALSE or TRUE (or NA)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yes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all numbers (or NA / </a:t>
                      </a:r>
                      <a:r>
                        <a:rPr lang="en-US" sz="2400" u="none" strike="noStrike" dirty="0" err="1">
                          <a:effectLst/>
                        </a:rPr>
                        <a:t>NaN</a:t>
                      </a:r>
                      <a:r>
                        <a:rPr lang="en-US" sz="2400" u="none" strike="noStrike" dirty="0">
                          <a:effectLst/>
                        </a:rPr>
                        <a:t> / Inf)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>
                          <a:effectLst/>
                        </a:rPr>
                        <a:t>yes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most combinations of letters, numbers, and special characters (or &lt;NA&gt;)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no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084538-E2BA-086A-78F6-D9FA6D3EC681}"/>
              </a:ext>
            </a:extLst>
          </p:cNvPr>
          <p:cNvCxnSpPr/>
          <p:nvPr/>
        </p:nvCxnSpPr>
        <p:spPr>
          <a:xfrm>
            <a:off x="1257300" y="2194560"/>
            <a:ext cx="0" cy="35318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4B04742-8912-2046-8ADC-57FCC7EAE106}"/>
              </a:ext>
            </a:extLst>
          </p:cNvPr>
          <p:cNvSpPr txBox="1">
            <a:spLocks/>
          </p:cNvSpPr>
          <p:nvPr/>
        </p:nvSpPr>
        <p:spPr>
          <a:xfrm>
            <a:off x="307607" y="1680890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F5B3D0-3430-9A03-892D-054F89F2F5E1}"/>
              </a:ext>
            </a:extLst>
          </p:cNvPr>
          <p:cNvSpPr txBox="1">
            <a:spLocks/>
          </p:cNvSpPr>
          <p:nvPr/>
        </p:nvSpPr>
        <p:spPr>
          <a:xfrm>
            <a:off x="106680" y="5814333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1D8565-C90A-0995-3613-AD767FE2FAF3}"/>
              </a:ext>
            </a:extLst>
          </p:cNvPr>
          <p:cNvCxnSpPr/>
          <p:nvPr/>
        </p:nvCxnSpPr>
        <p:spPr>
          <a:xfrm>
            <a:off x="9399270" y="2194560"/>
            <a:ext cx="0" cy="353187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611D2E-D665-FD24-C09E-34843F16BCC6}"/>
              </a:ext>
            </a:extLst>
          </p:cNvPr>
          <p:cNvSpPr txBox="1">
            <a:spLocks/>
          </p:cNvSpPr>
          <p:nvPr/>
        </p:nvSpPr>
        <p:spPr>
          <a:xfrm>
            <a:off x="9641944" y="2847918"/>
            <a:ext cx="2462626" cy="1994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Can be changed into a different class without losing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75572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D697-5BAB-9FC3-A1B2-A493F70E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7583-45D1-8A5D-8C28-E0B6689D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Classes of vectors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F6206A-0B8B-AFBA-6139-F81B6B879370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looks scary, but</a:t>
            </a:r>
          </a:p>
          <a:p>
            <a:r>
              <a:rPr lang="en-US" dirty="0"/>
              <a:t>It’s actually pretty obvious what can &amp; can’t happen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767695-DC2A-132C-BCE4-30BFA5A5E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4448" y="653037"/>
            <a:ext cx="5730240" cy="59247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myName</a:t>
            </a:r>
            <a:r>
              <a:rPr lang="en-US" dirty="0">
                <a:solidFill>
                  <a:schemeClr val="accent1"/>
                </a:solidFill>
              </a:rPr>
              <a:t> &lt;- "Inigo Montoya"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 + "Bob"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1 + "Bob": non-numeric argument to binary operator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"2" + 4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Error in "2" + 4: non-numeric argument to binary operator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heres_a_logical_vector</a:t>
            </a:r>
            <a:r>
              <a:rPr lang="en-US" dirty="0">
                <a:solidFill>
                  <a:schemeClr val="accent1"/>
                </a:solidFill>
              </a:rPr>
              <a:t> &lt;- c(TRUE,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          FALSE, TRUE, FALSE, TRUE)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heres_a_logical_vector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</a:t>
            </a:r>
            <a:r>
              <a:rPr lang="da-DK" dirty="0"/>
              <a:t>TRUE FALSE  TRUE FALSE  TRUE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289C3B-7A8A-FAE0-8747-0DE85281E8A0}"/>
              </a:ext>
            </a:extLst>
          </p:cNvPr>
          <p:cNvSpPr txBox="1">
            <a:spLocks/>
          </p:cNvSpPr>
          <p:nvPr/>
        </p:nvSpPr>
        <p:spPr>
          <a:xfrm>
            <a:off x="376846" y="2949677"/>
            <a:ext cx="5001399" cy="36281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Quotes in an assignment statement tell R to interpret something as character</a:t>
            </a:r>
          </a:p>
          <a:p>
            <a:pPr lvl="1"/>
            <a:r>
              <a:rPr lang="en-US" dirty="0"/>
              <a:t>Note: " " and ' ' can both be used as long as you’re consistent on both sides</a:t>
            </a:r>
          </a:p>
          <a:p>
            <a:r>
              <a:rPr lang="en-US" dirty="0"/>
              <a:t>R knows what TRUE and FALSE mean without quotes</a:t>
            </a:r>
          </a:p>
        </p:txBody>
      </p:sp>
    </p:spTree>
    <p:extLst>
      <p:ext uri="{BB962C8B-B14F-4D97-AF65-F5344CB8AC3E}">
        <p14:creationId xmlns:p14="http://schemas.microsoft.com/office/powerpoint/2010/main" val="213752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586B-7799-17B9-DE81-4A174E688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7831-947C-7C81-4E0F-5BDFE15D1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 what did I mean about changing classes?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DECD22-66D7-7B4B-F48F-CC5D90904FEA}"/>
              </a:ext>
            </a:extLst>
          </p:cNvPr>
          <p:cNvGraphicFramePr>
            <a:graphicFrameLocks noGrp="1"/>
          </p:cNvGraphicFramePr>
          <p:nvPr/>
        </p:nvGraphicFramePr>
        <p:xfrm>
          <a:off x="10029252" y="815688"/>
          <a:ext cx="1684081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logical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E4626-134B-7180-0708-F802EB48D488}"/>
              </a:ext>
            </a:extLst>
          </p:cNvPr>
          <p:cNvCxnSpPr>
            <a:cxnSpLocks/>
          </p:cNvCxnSpPr>
          <p:nvPr/>
        </p:nvCxnSpPr>
        <p:spPr>
          <a:xfrm>
            <a:off x="9683545" y="641063"/>
            <a:ext cx="0" cy="15613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EC30C0-48D4-6B46-6B25-7461B7F3BB80}"/>
              </a:ext>
            </a:extLst>
          </p:cNvPr>
          <p:cNvSpPr txBox="1">
            <a:spLocks/>
          </p:cNvSpPr>
          <p:nvPr/>
        </p:nvSpPr>
        <p:spPr>
          <a:xfrm>
            <a:off x="9485890" y="131977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3C008F-95D1-8468-A482-621662A07F07}"/>
              </a:ext>
            </a:extLst>
          </p:cNvPr>
          <p:cNvSpPr txBox="1">
            <a:spLocks/>
          </p:cNvSpPr>
          <p:nvPr/>
        </p:nvSpPr>
        <p:spPr>
          <a:xfrm>
            <a:off x="9485890" y="2233911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885C21-72D7-D3D4-A4CB-6E98D5ADE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32" y="1748966"/>
            <a:ext cx="5730240" cy="1122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c(TRUE, FALSE, TRUE, FALSE, 5)</a:t>
            </a:r>
          </a:p>
          <a:p>
            <a:pPr marL="0" indent="0">
              <a:buNone/>
            </a:pPr>
            <a:r>
              <a:rPr lang="en-US" dirty="0"/>
              <a:t>[1] 1 0 1 0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1713391-0880-1680-0E49-DD2EAAEA7ED0}"/>
              </a:ext>
            </a:extLst>
          </p:cNvPr>
          <p:cNvSpPr/>
          <p:nvPr/>
        </p:nvSpPr>
        <p:spPr>
          <a:xfrm rot="16200000">
            <a:off x="3486450" y="-285957"/>
            <a:ext cx="347423" cy="368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78D84C-334D-1E3D-129F-0624183E1F86}"/>
              </a:ext>
            </a:extLst>
          </p:cNvPr>
          <p:cNvSpPr txBox="1">
            <a:spLocks/>
          </p:cNvSpPr>
          <p:nvPr/>
        </p:nvSpPr>
        <p:spPr>
          <a:xfrm>
            <a:off x="3105667" y="929425"/>
            <a:ext cx="1108988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logical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61206EC-2500-9B3C-10C4-B09394005156}"/>
              </a:ext>
            </a:extLst>
          </p:cNvPr>
          <p:cNvSpPr txBox="1">
            <a:spLocks/>
          </p:cNvSpPr>
          <p:nvPr/>
        </p:nvSpPr>
        <p:spPr>
          <a:xfrm>
            <a:off x="5012925" y="925492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D240FD-A51C-039F-1A36-A69E18FF5C29}"/>
              </a:ext>
            </a:extLst>
          </p:cNvPr>
          <p:cNvCxnSpPr>
            <a:cxnSpLocks/>
          </p:cNvCxnSpPr>
          <p:nvPr/>
        </p:nvCxnSpPr>
        <p:spPr>
          <a:xfrm>
            <a:off x="5752412" y="137385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FB692C10-AFEC-DC86-BD65-F030E5F6E1A4}"/>
              </a:ext>
            </a:extLst>
          </p:cNvPr>
          <p:cNvSpPr/>
          <p:nvPr/>
        </p:nvSpPr>
        <p:spPr>
          <a:xfrm rot="5400000">
            <a:off x="2417087" y="2217174"/>
            <a:ext cx="360525" cy="1294590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70C041-16B0-D4F5-672D-5CF4E466282A}"/>
              </a:ext>
            </a:extLst>
          </p:cNvPr>
          <p:cNvSpPr txBox="1">
            <a:spLocks/>
          </p:cNvSpPr>
          <p:nvPr/>
        </p:nvSpPr>
        <p:spPr>
          <a:xfrm>
            <a:off x="1699332" y="310828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numeric</a:t>
            </a:r>
          </a:p>
        </p:txBody>
      </p:sp>
    </p:spTree>
    <p:extLst>
      <p:ext uri="{BB962C8B-B14F-4D97-AF65-F5344CB8AC3E}">
        <p14:creationId xmlns:p14="http://schemas.microsoft.com/office/powerpoint/2010/main" val="67809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4" grpId="0"/>
      <p:bldP spid="18" grpId="0" animBg="1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B5F7-0CD4-9F6C-C277-89188D0CF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15DB-74CE-F6A5-99EF-0903B263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 what did I mean about changing classes?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EA9F63-C805-F024-4130-5D2C5C424D45}"/>
              </a:ext>
            </a:extLst>
          </p:cNvPr>
          <p:cNvGraphicFramePr>
            <a:graphicFrameLocks noGrp="1"/>
          </p:cNvGraphicFramePr>
          <p:nvPr/>
        </p:nvGraphicFramePr>
        <p:xfrm>
          <a:off x="10029252" y="815688"/>
          <a:ext cx="1684081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4081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logical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>
                          <a:effectLst/>
                        </a:rPr>
                        <a:t>numeric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character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5BD8AB-6241-CAB1-0C6C-5FD71F85B00D}"/>
              </a:ext>
            </a:extLst>
          </p:cNvPr>
          <p:cNvCxnSpPr>
            <a:cxnSpLocks/>
          </p:cNvCxnSpPr>
          <p:nvPr/>
        </p:nvCxnSpPr>
        <p:spPr>
          <a:xfrm>
            <a:off x="9683545" y="641063"/>
            <a:ext cx="0" cy="15613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8C4EDE-AF3C-D1A8-71C3-B1C8A75FCDF3}"/>
              </a:ext>
            </a:extLst>
          </p:cNvPr>
          <p:cNvSpPr txBox="1">
            <a:spLocks/>
          </p:cNvSpPr>
          <p:nvPr/>
        </p:nvSpPr>
        <p:spPr>
          <a:xfrm>
            <a:off x="9485890" y="131977"/>
            <a:ext cx="2110739" cy="52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Less complex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1E5A91-1348-E035-C413-EB84C539B106}"/>
              </a:ext>
            </a:extLst>
          </p:cNvPr>
          <p:cNvSpPr txBox="1">
            <a:spLocks/>
          </p:cNvSpPr>
          <p:nvPr/>
        </p:nvSpPr>
        <p:spPr>
          <a:xfrm>
            <a:off x="9485890" y="2233911"/>
            <a:ext cx="2344146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More complex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B5A2CC-8C5A-2571-A000-CF81F2B60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32" y="1748966"/>
            <a:ext cx="5730240" cy="1122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c(TRUE, FALSE, TRUE, FALSE, 5)</a:t>
            </a:r>
          </a:p>
          <a:p>
            <a:pPr marL="0" indent="0">
              <a:buNone/>
            </a:pPr>
            <a:r>
              <a:rPr lang="en-US" dirty="0"/>
              <a:t>[1] 1 0 1 0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7E87B60C-7ADC-3547-1892-32D72E586449}"/>
              </a:ext>
            </a:extLst>
          </p:cNvPr>
          <p:cNvSpPr/>
          <p:nvPr/>
        </p:nvSpPr>
        <p:spPr>
          <a:xfrm rot="16200000">
            <a:off x="3486450" y="-285957"/>
            <a:ext cx="347423" cy="368874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3FFF89-D0B2-A8C8-A580-F674B34E72C0}"/>
              </a:ext>
            </a:extLst>
          </p:cNvPr>
          <p:cNvSpPr txBox="1">
            <a:spLocks/>
          </p:cNvSpPr>
          <p:nvPr/>
        </p:nvSpPr>
        <p:spPr>
          <a:xfrm>
            <a:off x="3105667" y="929425"/>
            <a:ext cx="1108988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logical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C12B30-18BA-1888-76DA-4C2DB6EA4C24}"/>
              </a:ext>
            </a:extLst>
          </p:cNvPr>
          <p:cNvSpPr txBox="1">
            <a:spLocks/>
          </p:cNvSpPr>
          <p:nvPr/>
        </p:nvSpPr>
        <p:spPr>
          <a:xfrm>
            <a:off x="5012925" y="925492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FA1E1F1-727E-51BB-CAA6-ED330DC38CE2}"/>
              </a:ext>
            </a:extLst>
          </p:cNvPr>
          <p:cNvCxnSpPr>
            <a:cxnSpLocks/>
          </p:cNvCxnSpPr>
          <p:nvPr/>
        </p:nvCxnSpPr>
        <p:spPr>
          <a:xfrm>
            <a:off x="5752412" y="137385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Brace 17">
            <a:extLst>
              <a:ext uri="{FF2B5EF4-FFF2-40B4-BE49-F238E27FC236}">
                <a16:creationId xmlns:a16="http://schemas.microsoft.com/office/drawing/2014/main" id="{0F5A2C96-922A-D9B1-5552-32F81C9ACA89}"/>
              </a:ext>
            </a:extLst>
          </p:cNvPr>
          <p:cNvSpPr/>
          <p:nvPr/>
        </p:nvSpPr>
        <p:spPr>
          <a:xfrm rot="5400000">
            <a:off x="2417087" y="2217174"/>
            <a:ext cx="360525" cy="1294590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7C886BE-BDC2-7E97-8417-BBD635548171}"/>
              </a:ext>
            </a:extLst>
          </p:cNvPr>
          <p:cNvSpPr txBox="1">
            <a:spLocks/>
          </p:cNvSpPr>
          <p:nvPr/>
        </p:nvSpPr>
        <p:spPr>
          <a:xfrm>
            <a:off x="1699332" y="310828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numeric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2BBCEA-9F7D-B70C-0D55-52A4AB6E6EA6}"/>
              </a:ext>
            </a:extLst>
          </p:cNvPr>
          <p:cNvSpPr txBox="1">
            <a:spLocks/>
          </p:cNvSpPr>
          <p:nvPr/>
        </p:nvSpPr>
        <p:spPr>
          <a:xfrm>
            <a:off x="393495" y="4803446"/>
            <a:ext cx="8956981" cy="1122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c(seq(2, 8, by=2), "Who do we appreciate")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[1] "2" "4" "6" "8" "Who do we appreciate"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2A01BF5-8E07-B1A7-E74A-11888B808732}"/>
              </a:ext>
            </a:extLst>
          </p:cNvPr>
          <p:cNvSpPr/>
          <p:nvPr/>
        </p:nvSpPr>
        <p:spPr>
          <a:xfrm rot="16200000">
            <a:off x="1661254" y="3546583"/>
            <a:ext cx="347423" cy="21326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677096A-C38F-7F2F-B381-52F00E906175}"/>
              </a:ext>
            </a:extLst>
          </p:cNvPr>
          <p:cNvSpPr txBox="1">
            <a:spLocks/>
          </p:cNvSpPr>
          <p:nvPr/>
        </p:nvSpPr>
        <p:spPr>
          <a:xfrm>
            <a:off x="1087715" y="3995095"/>
            <a:ext cx="1494499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numeric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D3327E-8D53-41C6-383E-096982D3D40E}"/>
              </a:ext>
            </a:extLst>
          </p:cNvPr>
          <p:cNvSpPr txBox="1">
            <a:spLocks/>
          </p:cNvSpPr>
          <p:nvPr/>
        </p:nvSpPr>
        <p:spPr>
          <a:xfrm>
            <a:off x="3965789" y="3979972"/>
            <a:ext cx="1659890" cy="540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character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38C019-DFBA-151D-50F1-852303A417F2}"/>
              </a:ext>
            </a:extLst>
          </p:cNvPr>
          <p:cNvCxnSpPr>
            <a:cxnSpLocks/>
          </p:cNvCxnSpPr>
          <p:nvPr/>
        </p:nvCxnSpPr>
        <p:spPr>
          <a:xfrm>
            <a:off x="4705276" y="4428333"/>
            <a:ext cx="7763" cy="358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959AE0F-3987-6EC1-D67E-B930F530BA1B}"/>
              </a:ext>
            </a:extLst>
          </p:cNvPr>
          <p:cNvSpPr/>
          <p:nvPr/>
        </p:nvSpPr>
        <p:spPr>
          <a:xfrm rot="5400000">
            <a:off x="3746900" y="2894706"/>
            <a:ext cx="360525" cy="6048488"/>
          </a:xfrm>
          <a:prstGeom prst="rightBrace">
            <a:avLst>
              <a:gd name="adj1" fmla="val 224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4C32C5C-F8E3-7E92-2304-8346CA28E662}"/>
              </a:ext>
            </a:extLst>
          </p:cNvPr>
          <p:cNvSpPr txBox="1">
            <a:spLocks/>
          </p:cNvSpPr>
          <p:nvPr/>
        </p:nvSpPr>
        <p:spPr>
          <a:xfrm>
            <a:off x="652196" y="6162769"/>
            <a:ext cx="4573648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result becomes character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A95C33D-7A13-E63A-DF34-41B366DA811A}"/>
              </a:ext>
            </a:extLst>
          </p:cNvPr>
          <p:cNvSpPr txBox="1">
            <a:spLocks/>
          </p:cNvSpPr>
          <p:nvPr/>
        </p:nvSpPr>
        <p:spPr>
          <a:xfrm>
            <a:off x="8011222" y="3521936"/>
            <a:ext cx="3702112" cy="30951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b="1" dirty="0"/>
              <a:t>All elements of a vector will be the same class!</a:t>
            </a:r>
          </a:p>
          <a:p>
            <a:r>
              <a:rPr lang="en-US" dirty="0"/>
              <a:t>Hey look, you can use whole vectors as arguments in </a:t>
            </a:r>
            <a:r>
              <a:rPr lang="en-US" b="1" dirty="0"/>
              <a:t>c( )</a:t>
            </a:r>
          </a:p>
        </p:txBody>
      </p:sp>
    </p:spTree>
    <p:extLst>
      <p:ext uri="{BB962C8B-B14F-4D97-AF65-F5344CB8AC3E}">
        <p14:creationId xmlns:p14="http://schemas.microsoft.com/office/powerpoint/2010/main" val="98842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  <p:bldP spid="13" grpId="0"/>
      <p:bldP spid="17" grpId="0" animBg="1"/>
      <p:bldP spid="20" grpId="0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3CCE-AF82-8022-A185-E40FFDF3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583F-D8C5-05D6-F976-FC66F115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Why do we care???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06B88A-1763-CF39-A309-05A945A7136D}"/>
              </a:ext>
            </a:extLst>
          </p:cNvPr>
          <p:cNvSpPr txBox="1">
            <a:spLocks/>
          </p:cNvSpPr>
          <p:nvPr/>
        </p:nvSpPr>
        <p:spPr>
          <a:xfrm>
            <a:off x="541019" y="783444"/>
            <a:ext cx="7806567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Take-home messages:</a:t>
            </a:r>
          </a:p>
          <a:p>
            <a:pPr lvl="1"/>
            <a:r>
              <a:rPr lang="en-US" dirty="0"/>
              <a:t>Different classes (types of data) exist!</a:t>
            </a:r>
          </a:p>
          <a:p>
            <a:pPr lvl="1"/>
            <a:r>
              <a:rPr lang="en-US" dirty="0"/>
              <a:t>R can do different things with different classes</a:t>
            </a:r>
          </a:p>
          <a:p>
            <a:pPr lvl="1"/>
            <a:r>
              <a:rPr lang="en-US" dirty="0"/>
              <a:t>R may do things you didn’t intend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6ED11-22FE-582A-4270-DE5383CB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336" y="2487167"/>
            <a:ext cx="4681458" cy="337933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533BDD-A820-DE49-FBCA-59F43BF8321B}"/>
              </a:ext>
            </a:extLst>
          </p:cNvPr>
          <p:cNvSpPr txBox="1">
            <a:spLocks/>
          </p:cNvSpPr>
          <p:nvPr/>
        </p:nvSpPr>
        <p:spPr>
          <a:xfrm>
            <a:off x="124180" y="6197418"/>
            <a:ext cx="2901242" cy="4691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Will become </a:t>
            </a:r>
            <a:r>
              <a:rPr lang="en-US" b="1" dirty="0"/>
              <a:t>numeric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7D6F8F-BC9D-146A-0B8A-DE52FFED541A}"/>
              </a:ext>
            </a:extLst>
          </p:cNvPr>
          <p:cNvCxnSpPr/>
          <p:nvPr/>
        </p:nvCxnSpPr>
        <p:spPr>
          <a:xfrm flipV="1">
            <a:off x="2933432" y="5866500"/>
            <a:ext cx="0" cy="250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2AD504-6C5B-F8C4-607C-B293E536B447}"/>
              </a:ext>
            </a:extLst>
          </p:cNvPr>
          <p:cNvCxnSpPr/>
          <p:nvPr/>
        </p:nvCxnSpPr>
        <p:spPr>
          <a:xfrm flipV="1">
            <a:off x="3579359" y="5866499"/>
            <a:ext cx="0" cy="250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D0CEE-4DF5-C9E5-C912-E1ED90EE402F}"/>
              </a:ext>
            </a:extLst>
          </p:cNvPr>
          <p:cNvSpPr txBox="1">
            <a:spLocks/>
          </p:cNvSpPr>
          <p:nvPr/>
        </p:nvSpPr>
        <p:spPr>
          <a:xfrm>
            <a:off x="3471334" y="6192230"/>
            <a:ext cx="3009935" cy="4691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Will become </a:t>
            </a:r>
            <a:r>
              <a:rPr lang="en-US" b="1" dirty="0"/>
              <a:t>character</a:t>
            </a:r>
          </a:p>
        </p:txBody>
      </p:sp>
    </p:spTree>
    <p:extLst>
      <p:ext uri="{BB962C8B-B14F-4D97-AF65-F5344CB8AC3E}">
        <p14:creationId xmlns:p14="http://schemas.microsoft.com/office/powerpoint/2010/main" val="329249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2933-888B-3FA2-04A3-71003607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7DD7-1811-F222-A944-045725E5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Btw: yes, we can change classes manually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151AF9-F7C3-D86E-B91D-F3C3F262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47" y="1629330"/>
            <a:ext cx="10515600" cy="4466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r>
              <a:rPr lang="en-US" dirty="0">
                <a:solidFill>
                  <a:schemeClr val="accent1"/>
                </a:solidFill>
              </a:rPr>
              <a:t> &lt;- c(seq(2, 8, by=2), "Who do we appreciate")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[1] "2" "4" "6" "8" "Who do we appreciate"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>
                <a:solidFill>
                  <a:schemeClr val="accent1"/>
                </a:solidFill>
              </a:rPr>
              <a:t>as.numeric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smellsLikeSchoolSpirit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[1] 2 4 6 8 NA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Warning message: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NAs introduced by coercion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07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B909-7AF8-668D-EA9E-7FA00EA7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D0E6-AA00-A416-6895-4D63606D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One last vector class: </a:t>
            </a:r>
            <a:r>
              <a:rPr lang="en-US" sz="3600" b="1" dirty="0"/>
              <a:t>factor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C5A5FB-0338-FCC4-D6A0-26E7831C2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78" y="1632291"/>
            <a:ext cx="8854337" cy="49259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rating_char</a:t>
            </a:r>
            <a:r>
              <a:rPr lang="en-US" dirty="0">
                <a:solidFill>
                  <a:schemeClr val="accent1"/>
                </a:solidFill>
              </a:rPr>
              <a:t> &lt;- c("</a:t>
            </a:r>
            <a:r>
              <a:rPr lang="en-US" dirty="0" err="1">
                <a:solidFill>
                  <a:schemeClr val="accent1"/>
                </a:solidFill>
              </a:rPr>
              <a:t>Low","Medium","High","Low","Medium</a:t>
            </a:r>
            <a:r>
              <a:rPr lang="en-US" dirty="0">
                <a:solidFill>
                  <a:schemeClr val="accent1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rating_factor</a:t>
            </a:r>
            <a:r>
              <a:rPr lang="en-US" dirty="0">
                <a:solidFill>
                  <a:schemeClr val="accent1"/>
                </a:solidFill>
              </a:rPr>
              <a:t> &lt;- </a:t>
            </a:r>
            <a:r>
              <a:rPr lang="en-US" dirty="0" err="1">
                <a:solidFill>
                  <a:schemeClr val="accent1"/>
                </a:solidFill>
              </a:rPr>
              <a:t>as.factor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rating_char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rating_char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"Low"    "Medium" "High"   "Low"    "Medium"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rating_factor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[1] Low    Medium High   Low    Medium</a:t>
            </a:r>
          </a:p>
          <a:p>
            <a:pPr marL="0" indent="0">
              <a:buNone/>
            </a:pPr>
            <a:r>
              <a:rPr lang="en-US" dirty="0"/>
              <a:t>Levels: High Low Medium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as.numeric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rating_factor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[1] 2 3 1 2 3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DD3D216-9062-BCC1-3ED8-18E90C2F9AFA}"/>
              </a:ext>
            </a:extLst>
          </p:cNvPr>
          <p:cNvSpPr txBox="1">
            <a:spLocks/>
          </p:cNvSpPr>
          <p:nvPr/>
        </p:nvSpPr>
        <p:spPr>
          <a:xfrm>
            <a:off x="1178715" y="846326"/>
            <a:ext cx="6930829" cy="641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Like character, but with a guest list!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F86C56E-4AB0-BFBB-F828-D9B64BC4591D}"/>
              </a:ext>
            </a:extLst>
          </p:cNvPr>
          <p:cNvSpPr txBox="1">
            <a:spLocks/>
          </p:cNvSpPr>
          <p:nvPr/>
        </p:nvSpPr>
        <p:spPr>
          <a:xfrm>
            <a:off x="7905509" y="3254635"/>
            <a:ext cx="4097437" cy="33036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R will probably try to alphabetize your factor levels (High will come before Low and Medium)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CE431A2-95EE-E711-ED29-8AEB955A289F}"/>
              </a:ext>
            </a:extLst>
          </p:cNvPr>
          <p:cNvSpPr/>
          <p:nvPr/>
        </p:nvSpPr>
        <p:spPr>
          <a:xfrm>
            <a:off x="390144" y="4608576"/>
            <a:ext cx="4636112" cy="617133"/>
          </a:xfrm>
          <a:prstGeom prst="ellipse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9B38AA88-BDB5-6AFF-A7DB-4C98B1D52E1A}"/>
              </a:ext>
            </a:extLst>
          </p:cNvPr>
          <p:cNvSpPr/>
          <p:nvPr/>
        </p:nvSpPr>
        <p:spPr>
          <a:xfrm>
            <a:off x="4496844" y="5686816"/>
            <a:ext cx="313151" cy="7766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54DB6-5571-5287-2E79-5BF68742430C}"/>
              </a:ext>
            </a:extLst>
          </p:cNvPr>
          <p:cNvSpPr txBox="1"/>
          <p:nvPr/>
        </p:nvSpPr>
        <p:spPr>
          <a:xfrm>
            <a:off x="4809996" y="5757826"/>
            <a:ext cx="257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super important, just an oddity to be aware of!</a:t>
            </a:r>
          </a:p>
        </p:txBody>
      </p:sp>
    </p:spTree>
    <p:extLst>
      <p:ext uri="{BB962C8B-B14F-4D97-AF65-F5344CB8AC3E}">
        <p14:creationId xmlns:p14="http://schemas.microsoft.com/office/powerpoint/2010/main" val="44484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 animBg="1"/>
      <p:bldP spid="4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A14B90-09A9-2613-EF3E-98FD443B7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FADA-34A5-D55A-E691-2B8225AA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4602939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When to use character?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0D0DDB-0E84-4A3E-A59D-F6A351C4757E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21243-0C3F-EAE2-489E-EAF4B81C8EE0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4722683" cy="305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are no specific categories of interest</a:t>
            </a:r>
          </a:p>
          <a:p>
            <a:r>
              <a:rPr lang="en-US" sz="2000" dirty="0"/>
              <a:t>Fields are open-ended</a:t>
            </a:r>
          </a:p>
          <a:p>
            <a:r>
              <a:rPr lang="en-US" sz="2000" dirty="0"/>
              <a:t>Examples…</a:t>
            </a:r>
          </a:p>
          <a:p>
            <a:pPr lvl="1"/>
            <a:r>
              <a:rPr lang="en-US" sz="1800" dirty="0"/>
              <a:t>Comments</a:t>
            </a:r>
          </a:p>
          <a:p>
            <a:pPr lvl="1"/>
            <a:r>
              <a:rPr lang="en-US" sz="1800" dirty="0"/>
              <a:t>Personnel?</a:t>
            </a:r>
          </a:p>
          <a:p>
            <a:pPr lvl="1"/>
            <a:r>
              <a:rPr lang="en-US" sz="1800" dirty="0"/>
              <a:t>Weather?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0A2AA8-3373-5BAB-C527-C28443DF1CE6}"/>
              </a:ext>
            </a:extLst>
          </p:cNvPr>
          <p:cNvSpPr txBox="1">
            <a:spLocks/>
          </p:cNvSpPr>
          <p:nvPr/>
        </p:nvSpPr>
        <p:spPr>
          <a:xfrm>
            <a:off x="6901524" y="0"/>
            <a:ext cx="460293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When to use factor?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B97097-F68E-4A74-F224-0CD9542B2DE4}"/>
              </a:ext>
            </a:extLst>
          </p:cNvPr>
          <p:cNvSpPr txBox="1">
            <a:spLocks/>
          </p:cNvSpPr>
          <p:nvPr/>
        </p:nvSpPr>
        <p:spPr>
          <a:xfrm>
            <a:off x="6901523" y="870296"/>
            <a:ext cx="4722683" cy="4039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There are distinct categories</a:t>
            </a:r>
          </a:p>
          <a:p>
            <a:pPr lvl="1"/>
            <a:r>
              <a:rPr lang="en-US" sz="1800" dirty="0"/>
              <a:t>Probably related to a research question!</a:t>
            </a:r>
          </a:p>
          <a:p>
            <a:r>
              <a:rPr lang="en-US" sz="2000" dirty="0"/>
              <a:t>You’d like to do formal testing/plotting using these categories</a:t>
            </a:r>
          </a:p>
          <a:p>
            <a:r>
              <a:rPr lang="en-US" sz="2000" dirty="0"/>
              <a:t>Examples…</a:t>
            </a:r>
          </a:p>
          <a:p>
            <a:pPr lvl="1"/>
            <a:r>
              <a:rPr lang="en-US" sz="1800" dirty="0"/>
              <a:t>Species (code)</a:t>
            </a:r>
          </a:p>
          <a:p>
            <a:pPr lvl="1"/>
            <a:r>
              <a:rPr lang="en-US" sz="1800" dirty="0"/>
              <a:t>Sex</a:t>
            </a:r>
          </a:p>
          <a:p>
            <a:pPr lvl="1"/>
            <a:r>
              <a:rPr lang="en-US" sz="1800" dirty="0"/>
              <a:t>Age?</a:t>
            </a:r>
          </a:p>
          <a:p>
            <a:pPr lvl="1"/>
            <a:r>
              <a:rPr lang="en-US" sz="1800" dirty="0"/>
              <a:t>Year??</a:t>
            </a:r>
          </a:p>
          <a:p>
            <a:pPr lvl="1"/>
            <a:endParaRPr lang="en-US" sz="1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922F6A-04FD-5489-FA67-570C62267B6C}"/>
              </a:ext>
            </a:extLst>
          </p:cNvPr>
          <p:cNvCxnSpPr>
            <a:cxnSpLocks/>
          </p:cNvCxnSpPr>
          <p:nvPr/>
        </p:nvCxnSpPr>
        <p:spPr>
          <a:xfrm>
            <a:off x="6204857" y="272143"/>
            <a:ext cx="0" cy="3788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13C16A-4D64-0E3F-ABBE-517F7DC92986}"/>
              </a:ext>
            </a:extLst>
          </p:cNvPr>
          <p:cNvSpPr txBox="1">
            <a:spLocks/>
          </p:cNvSpPr>
          <p:nvPr/>
        </p:nvSpPr>
        <p:spPr>
          <a:xfrm>
            <a:off x="870839" y="4441858"/>
            <a:ext cx="10753368" cy="24161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i="1" dirty="0"/>
              <a:t>In practice:</a:t>
            </a:r>
          </a:p>
          <a:p>
            <a:r>
              <a:rPr lang="en-US" sz="2000" dirty="0"/>
              <a:t>R will import non-numeric columns as character by default (as of 2020), rather than factor</a:t>
            </a:r>
          </a:p>
          <a:p>
            <a:pPr lvl="1"/>
            <a:r>
              <a:rPr lang="en-US" sz="1600" dirty="0"/>
              <a:t>That’s a good thing, it’s easier to make changes to character variables than factor!</a:t>
            </a:r>
          </a:p>
          <a:p>
            <a:r>
              <a:rPr lang="en-US" sz="2000" dirty="0"/>
              <a:t>R will generally treat character as factor when it needs to (ANOVA, boxplots, chi-squared tests, …)</a:t>
            </a:r>
          </a:p>
          <a:p>
            <a:pPr lvl="1"/>
            <a:r>
              <a:rPr lang="en-US" sz="1600" dirty="0"/>
              <a:t>So the distinction doesn’t matter as much as it used to</a:t>
            </a:r>
          </a:p>
          <a:p>
            <a:r>
              <a:rPr lang="en-US" sz="2000" dirty="0"/>
              <a:t>But, data summaries can be easier with factor, so it’s often worth converting character to factor</a:t>
            </a:r>
          </a:p>
          <a:p>
            <a:pPr lvl="1"/>
            <a:r>
              <a:rPr lang="en-US" sz="1600" dirty="0"/>
              <a:t>…after editing values, if that’s needed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C572C0-3517-448C-44F9-6F218C92E8C7}"/>
              </a:ext>
            </a:extLst>
          </p:cNvPr>
          <p:cNvCxnSpPr>
            <a:cxnSpLocks/>
          </p:cNvCxnSpPr>
          <p:nvPr/>
        </p:nvCxnSpPr>
        <p:spPr>
          <a:xfrm flipH="1">
            <a:off x="391886" y="4343400"/>
            <a:ext cx="114844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5DAEC8B-7B9F-205F-86FE-756987F1BD99}"/>
              </a:ext>
            </a:extLst>
          </p:cNvPr>
          <p:cNvSpPr txBox="1">
            <a:spLocks/>
          </p:cNvSpPr>
          <p:nvPr/>
        </p:nvSpPr>
        <p:spPr>
          <a:xfrm>
            <a:off x="8749179" y="3317428"/>
            <a:ext cx="2038284" cy="55490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Might be numeric, depending on context!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C49EAF47-3DB8-443F-345E-D974C0DBE8F4}"/>
              </a:ext>
            </a:extLst>
          </p:cNvPr>
          <p:cNvSpPr/>
          <p:nvPr/>
        </p:nvSpPr>
        <p:spPr>
          <a:xfrm>
            <a:off x="8485993" y="3244442"/>
            <a:ext cx="211693" cy="668932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2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357F-DC3D-BEC2-E63C-76206306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1383-AC6A-C71E-6E73-CEA057072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Simple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94FDE-70A6-174D-CB84-BBEFA7BB3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</p:spTree>
    <p:extLst>
      <p:ext uri="{BB962C8B-B14F-4D97-AF65-F5344CB8AC3E}">
        <p14:creationId xmlns:p14="http://schemas.microsoft.com/office/powerpoint/2010/main" val="3888678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Help!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0" y="1623060"/>
            <a:ext cx="2880360" cy="1322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?median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help("median")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CF2A49-85B7-1AF5-FDF5-26554CBB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7352"/>
            <a:ext cx="6232837" cy="6530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65BC65-724C-65A3-DED7-137083F79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23" y="4920343"/>
            <a:ext cx="5435259" cy="17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1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/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/>
              <a:t>[1] 1031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Insights…</a:t>
            </a:r>
          </a:p>
          <a:p>
            <a:r>
              <a:rPr lang="en-US" dirty="0"/>
              <a:t>You can use parentheses in mathematical operations, too</a:t>
            </a:r>
          </a:p>
          <a:p>
            <a:r>
              <a:rPr lang="en-US" dirty="0"/>
              <a:t>R is pretty smart about order of operations (but I’m still nervous to trust it!)</a:t>
            </a:r>
          </a:p>
        </p:txBody>
      </p:sp>
    </p:spTree>
    <p:extLst>
      <p:ext uri="{BB962C8B-B14F-4D97-AF65-F5344CB8AC3E}">
        <p14:creationId xmlns:p14="http://schemas.microsoft.com/office/powerpoint/2010/main" val="114956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  <a:p>
            <a:r>
              <a:rPr lang="en-US" dirty="0"/>
              <a:t>sqrt(), log(), exp(), abs()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sqrt(c(0, 1, 4, 9, 16, 25, 36))</a:t>
            </a:r>
          </a:p>
          <a:p>
            <a:pPr marL="0" indent="0">
              <a:buNone/>
            </a:pPr>
            <a:r>
              <a:rPr lang="en-US" dirty="0"/>
              <a:t>[1] 0 1 2 3 4 5 6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Mathematical functions can generally be evaluated vector-wise</a:t>
            </a:r>
          </a:p>
        </p:txBody>
      </p:sp>
    </p:spTree>
    <p:extLst>
      <p:ext uri="{BB962C8B-B14F-4D97-AF65-F5344CB8AC3E}">
        <p14:creationId xmlns:p14="http://schemas.microsoft.com/office/powerpoint/2010/main" val="236672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Some operators &amp; functions…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usual cast of characters:         +, -, *, /, ^</a:t>
            </a:r>
          </a:p>
          <a:p>
            <a:r>
              <a:rPr lang="en-US" dirty="0"/>
              <a:t>sqrt(), log(), exp(), abs()</a:t>
            </a:r>
          </a:p>
          <a:p>
            <a:r>
              <a:rPr lang="en-US" dirty="0"/>
              <a:t>sum(), prod()</a:t>
            </a:r>
          </a:p>
          <a:p>
            <a:r>
              <a:rPr lang="en-US" dirty="0"/>
              <a:t>mean(), median(), quantile(), </a:t>
            </a:r>
            <a:r>
              <a:rPr lang="en-US" dirty="0" err="1"/>
              <a:t>sd</a:t>
            </a:r>
            <a:r>
              <a:rPr lang="en-US" dirty="0"/>
              <a:t>(), var()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0" y="1214637"/>
            <a:ext cx="5730240" cy="564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sqrt(c(0, 1, 4, 9, 16, 25, 36))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[1] 0 1 2 3 4 5 6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median(c(0, 1, 4, 9, 16, 25, 36))</a:t>
            </a:r>
          </a:p>
          <a:p>
            <a:pPr marL="0" indent="0">
              <a:buNone/>
            </a:pPr>
            <a:r>
              <a:rPr lang="en-US" dirty="0"/>
              <a:t>[1] 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43E7B4-7FB3-D20A-6CA6-9DDAD2DB5B8B}"/>
              </a:ext>
            </a:extLst>
          </p:cNvPr>
          <p:cNvSpPr txBox="1">
            <a:spLocks/>
          </p:cNvSpPr>
          <p:nvPr/>
        </p:nvSpPr>
        <p:spPr>
          <a:xfrm>
            <a:off x="622652" y="4206240"/>
            <a:ext cx="5473348" cy="245221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Some functions need a vector input!</a:t>
            </a:r>
          </a:p>
        </p:txBody>
      </p:sp>
    </p:spTree>
    <p:extLst>
      <p:ext uri="{BB962C8B-B14F-4D97-AF65-F5344CB8AC3E}">
        <p14:creationId xmlns:p14="http://schemas.microsoft.com/office/powerpoint/2010/main" val="129444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dirty="0"/>
              <a:t>Let’s talk about NA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FA4004-FC25-6959-E1B3-19BE6863D263}"/>
              </a:ext>
            </a:extLst>
          </p:cNvPr>
          <p:cNvSpPr txBox="1">
            <a:spLocks/>
          </p:cNvSpPr>
          <p:nvPr/>
        </p:nvSpPr>
        <p:spPr>
          <a:xfrm>
            <a:off x="541020" y="1015092"/>
            <a:ext cx="5288280" cy="564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NA is a placeholder for an unknown value</a:t>
            </a:r>
          </a:p>
          <a:p>
            <a:r>
              <a:rPr lang="en-US" dirty="0"/>
              <a:t>Blank cells in spreadsheets are typically imported as NA</a:t>
            </a:r>
          </a:p>
          <a:p>
            <a:r>
              <a:rPr lang="en-US" dirty="0"/>
              <a:t>R will generally return NA or Error when NA is used in calculations</a:t>
            </a:r>
          </a:p>
          <a:p>
            <a:pPr lvl="1"/>
            <a:r>
              <a:rPr lang="en-US" dirty="0"/>
              <a:t>Which is good!</a:t>
            </a:r>
          </a:p>
          <a:p>
            <a:pPr lvl="1"/>
            <a:r>
              <a:rPr lang="en-US" dirty="0"/>
              <a:t>There are ways around this, if appropriate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BEE9EE-F69C-8D92-245A-FC46B558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8" y="607318"/>
            <a:ext cx="5730240" cy="594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c(1, 2, 3, 4, NA)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b &lt;- c(2, 4, 6, 8, 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+ b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</a:t>
            </a:r>
            <a:r>
              <a:rPr lang="pl-PL" dirty="0"/>
              <a:t>3  6  9 12 NA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mean(a)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</a:t>
            </a:r>
            <a:r>
              <a:rPr lang="pl-PL" dirty="0"/>
              <a:t>NA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mean(a, na.rm = TRUE)</a:t>
            </a:r>
          </a:p>
          <a:p>
            <a:pPr marL="0" indent="0">
              <a:buNone/>
            </a:pPr>
            <a:r>
              <a:rPr lang="en-US" dirty="0"/>
              <a:t>[1]</a:t>
            </a:r>
            <a:r>
              <a:rPr lang="pl-PL" dirty="0"/>
              <a:t> </a:t>
            </a:r>
            <a:r>
              <a:rPr lang="en-US" dirty="0"/>
              <a:t> 2.5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48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2344-8BD9-EBC3-894D-B166D924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0FC4-0C1E-8EBB-2E57-6BD8F0EAA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857" y="171672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More Functions: Non-numeric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3E977-FBC8-AAD0-B5BC-7B168E65D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1437"/>
            <a:ext cx="9144000" cy="1655762"/>
          </a:xfrm>
        </p:spPr>
        <p:txBody>
          <a:bodyPr/>
          <a:lstStyle/>
          <a:p>
            <a:r>
              <a:rPr lang="en-US" dirty="0"/>
              <a:t>- Poke the Box! -</a:t>
            </a:r>
          </a:p>
        </p:txBody>
      </p:sp>
    </p:spTree>
    <p:extLst>
      <p:ext uri="{BB962C8B-B14F-4D97-AF65-F5344CB8AC3E}">
        <p14:creationId xmlns:p14="http://schemas.microsoft.com/office/powerpoint/2010/main" val="2177897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FE959-1562-D908-B06E-180DE484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F6F08-4345-1628-77C5-1EE1ABD76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631"/>
            <a:ext cx="10515600" cy="59513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&lt;- c(“dog”, “cat”, “pig”)</a:t>
            </a:r>
          </a:p>
          <a:p>
            <a:pPr marL="0" indent="0">
              <a:buNone/>
            </a:pPr>
            <a:r>
              <a:rPr lang="en-US" dirty="0"/>
              <a:t>dog&lt;- “dog”</a:t>
            </a:r>
          </a:p>
          <a:p>
            <a:pPr marL="0" indent="0">
              <a:buNone/>
            </a:pPr>
            <a:r>
              <a:rPr lang="en-US" dirty="0"/>
              <a:t>cat&lt;- “cat”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Length(list) : returns the number of elements in a vector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Paste(dog, cat): concatenates strings/characters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nchar</a:t>
            </a:r>
            <a:r>
              <a:rPr lang="en-US" dirty="0"/>
              <a:t>(dog): counts number of characters in a string</a:t>
            </a:r>
          </a:p>
        </p:txBody>
      </p:sp>
    </p:spTree>
    <p:extLst>
      <p:ext uri="{BB962C8B-B14F-4D97-AF65-F5344CB8AC3E}">
        <p14:creationId xmlns:p14="http://schemas.microsoft.com/office/powerpoint/2010/main" val="69582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FF74-6843-B24C-CC0C-154A1DC3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560D4-772D-EFF2-855D-D93108B73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259"/>
            <a:ext cx="10515600" cy="5951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X&lt;- c(1,NA,3)</a:t>
            </a:r>
          </a:p>
          <a:p>
            <a:pPr marL="0" indent="0">
              <a:buNone/>
            </a:pPr>
            <a:r>
              <a:rPr lang="en-US" dirty="0"/>
              <a:t>bools&lt;-c(TRUE, TRUE, FALSE)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is.na(x) : returns a list of Booleans (FALSE, TRUE, FALSE) to detect missing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all(bools) : checks to see if all elements in a logical list are TRUE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119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66461-081E-8F16-8A2B-AB547ABD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499" y="2348304"/>
            <a:ext cx="10515600" cy="1325563"/>
          </a:xfrm>
        </p:spPr>
        <p:txBody>
          <a:bodyPr/>
          <a:lstStyle/>
          <a:p>
            <a:r>
              <a:rPr lang="en-US" dirty="0"/>
              <a:t>BASE R = BUILDING BLOCKS!		</a:t>
            </a:r>
          </a:p>
        </p:txBody>
      </p:sp>
    </p:spTree>
    <p:extLst>
      <p:ext uri="{BB962C8B-B14F-4D97-AF65-F5344CB8AC3E}">
        <p14:creationId xmlns:p14="http://schemas.microsoft.com/office/powerpoint/2010/main" val="830136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9C5B9-E484-6A46-A91E-0FDE4451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all relate to the Data we are used to?</a:t>
            </a:r>
          </a:p>
        </p:txBody>
      </p:sp>
      <p:pic>
        <p:nvPicPr>
          <p:cNvPr id="5" name="Picture 4" descr="Table&#10;&#10;AI-generated content may be incorrect.">
            <a:extLst>
              <a:ext uri="{FF2B5EF4-FFF2-40B4-BE49-F238E27FC236}">
                <a16:creationId xmlns:a16="http://schemas.microsoft.com/office/drawing/2014/main" id="{090A2FC1-D896-BDCC-CE95-24AB1D92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1871088"/>
            <a:ext cx="11471564" cy="33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69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536B-5D30-294D-FF7F-014DD86E4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132"/>
            <a:ext cx="10515600" cy="5903831"/>
          </a:xfrm>
        </p:spPr>
        <p:txBody>
          <a:bodyPr/>
          <a:lstStyle/>
          <a:p>
            <a:r>
              <a:rPr lang="en-US" dirty="0"/>
              <a:t>We have studied Vectors already</a:t>
            </a:r>
          </a:p>
          <a:p>
            <a:r>
              <a:rPr lang="en-US" dirty="0"/>
              <a:t>If we look at a data table in excel and we deconstruct it by column, doesn’t it look like just a bunch of vectors concatenated together?</a:t>
            </a:r>
          </a:p>
          <a:p>
            <a:r>
              <a:rPr lang="en-US" dirty="0"/>
              <a:t>That’s what makes up a more complex data structure, which in R we call a </a:t>
            </a:r>
            <a:r>
              <a:rPr lang="en-US" dirty="0" err="1"/>
              <a:t>dataframe</a:t>
            </a:r>
            <a:r>
              <a:rPr lang="en-US" dirty="0"/>
              <a:t>!</a:t>
            </a:r>
          </a:p>
          <a:p>
            <a:r>
              <a:rPr lang="en-US" dirty="0"/>
              <a:t>Let’s go through step by step how we transform vectors into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7322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31" y="914401"/>
            <a:ext cx="5025528" cy="5296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 &lt;- seq(from=10, to=100, by=10)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10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x[9]</a:t>
            </a:r>
          </a:p>
          <a:p>
            <a:pPr marL="0" indent="0">
              <a:buNone/>
            </a:pPr>
            <a:r>
              <a:rPr lang="en-US" dirty="0"/>
              <a:t>[1] 90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x[c(1, 4, 9)]</a:t>
            </a:r>
          </a:p>
          <a:p>
            <a:pPr marL="0" indent="0">
              <a:buNone/>
            </a:pPr>
            <a:r>
              <a:rPr lang="en-US" dirty="0"/>
              <a:t>[1] 10 40 90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x[-(1:5)]</a:t>
            </a:r>
          </a:p>
          <a:p>
            <a:pPr marL="0" indent="0">
              <a:buNone/>
            </a:pPr>
            <a:r>
              <a:rPr lang="en-US" dirty="0"/>
              <a:t>[1] 60 70 80 90 100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Vectors</a:t>
            </a:r>
            <a:r>
              <a:rPr lang="en-US" sz="3600" dirty="0"/>
              <a:t>: data in one dimension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535146" y="1165256"/>
            <a:ext cx="4293060" cy="50455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Square brackets </a:t>
            </a:r>
            <a:r>
              <a:rPr lang="en-US" b="1" dirty="0"/>
              <a:t>[ ] </a:t>
            </a:r>
            <a:r>
              <a:rPr lang="en-US" dirty="0"/>
              <a:t>let you refer to a vector element by its </a:t>
            </a:r>
            <a:r>
              <a:rPr lang="en-US" b="1" dirty="0"/>
              <a:t>index</a:t>
            </a:r>
            <a:r>
              <a:rPr lang="en-US" dirty="0"/>
              <a:t> (think: which mailbox slot)</a:t>
            </a:r>
          </a:p>
          <a:p>
            <a:r>
              <a:rPr lang="en-US" dirty="0"/>
              <a:t>Passing a vector into [ ] gives a vector output</a:t>
            </a:r>
          </a:p>
          <a:p>
            <a:r>
              <a:rPr lang="en-US" dirty="0"/>
              <a:t>Negative indices </a:t>
            </a:r>
            <a:r>
              <a:rPr lang="en-US" i="1" dirty="0"/>
              <a:t>exclude</a:t>
            </a:r>
            <a:r>
              <a:rPr lang="en-US" dirty="0"/>
              <a:t> these elements</a:t>
            </a:r>
          </a:p>
          <a:p>
            <a:r>
              <a:rPr lang="en-US" i="1" dirty="0"/>
              <a:t>R gives you clues: [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DA29-83FD-E1B2-7844-AC15B05C0051}"/>
              </a:ext>
            </a:extLst>
          </p:cNvPr>
          <p:cNvGrpSpPr/>
          <p:nvPr/>
        </p:nvGrpSpPr>
        <p:grpSpPr>
          <a:xfrm>
            <a:off x="664828" y="1121189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F1E640-55D6-DCC2-6F4C-E5A0075F3C58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0B9801-56B1-FE76-93AB-EA71A2273A67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19E6AE-1649-8CCF-CF0B-4A9E1D802CDB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174DE-FC42-6370-3273-0F5847094648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28C5E5-9657-954A-ECFD-6A99BCDF233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0D518-C94E-CE3A-5978-3570073885F4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08385-A445-D49A-A3E0-FC9DA1F58BA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DEA282B-CE3B-8DCB-8B70-12CC66A5B08B}"/>
              </a:ext>
            </a:extLst>
          </p:cNvPr>
          <p:cNvSpPr/>
          <p:nvPr/>
        </p:nvSpPr>
        <p:spPr>
          <a:xfrm>
            <a:off x="5577839" y="1737836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C12482-D64A-FCB3-2AAB-269399858B9C}"/>
              </a:ext>
            </a:extLst>
          </p:cNvPr>
          <p:cNvSpPr/>
          <p:nvPr/>
        </p:nvSpPr>
        <p:spPr>
          <a:xfrm>
            <a:off x="2320033" y="1738957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5A251C-6B55-C7FA-8957-9CC9A2195313}"/>
              </a:ext>
            </a:extLst>
          </p:cNvPr>
          <p:cNvSpPr/>
          <p:nvPr/>
        </p:nvSpPr>
        <p:spPr>
          <a:xfrm>
            <a:off x="3532030" y="1729891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8EF06F0F-F139-3757-3D10-C15FDE99E772}"/>
              </a:ext>
            </a:extLst>
          </p:cNvPr>
          <p:cNvSpPr/>
          <p:nvPr/>
        </p:nvSpPr>
        <p:spPr>
          <a:xfrm>
            <a:off x="1899996" y="1537399"/>
            <a:ext cx="2483799" cy="914400"/>
          </a:xfrm>
          <a:prstGeom prst="noSmoking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78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4" grpId="1" animBg="1"/>
      <p:bldP spid="14" grpId="2" animBg="1"/>
      <p:bldP spid="14" grpId="3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30" y="914401"/>
            <a:ext cx="5664115" cy="52963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 &lt;- seq(from=10, to=100, by=10)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10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x[1] &lt;- 999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999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x[6:10] &lt;- 999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999 20 30 40 50 999 999 999 999 999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Vectors</a:t>
            </a:r>
            <a:r>
              <a:rPr lang="en-US" sz="3600" dirty="0"/>
              <a:t>: data in one dimension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667349" y="889836"/>
            <a:ext cx="4293060" cy="44430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You can also assign things using indices!</a:t>
            </a:r>
          </a:p>
          <a:p>
            <a:r>
              <a:rPr lang="en-US" dirty="0"/>
              <a:t>…and to multiple elements by putting a vector in [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DA29-83FD-E1B2-7844-AC15B05C0051}"/>
              </a:ext>
            </a:extLst>
          </p:cNvPr>
          <p:cNvGrpSpPr/>
          <p:nvPr/>
        </p:nvGrpSpPr>
        <p:grpSpPr>
          <a:xfrm>
            <a:off x="664828" y="1121189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F1E640-55D6-DCC2-6F4C-E5A0075F3C58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0B9801-56B1-FE76-93AB-EA71A2273A67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19E6AE-1649-8CCF-CF0B-4A9E1D802CDB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174DE-FC42-6370-3273-0F5847094648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28C5E5-9657-954A-ECFD-6A99BCDF233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0D518-C94E-CE3A-5978-3570073885F4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08385-A445-D49A-A3E0-FC9DA1F58BA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D5A35AEF-BF11-C794-101A-9E8A70BC22AF}"/>
              </a:ext>
            </a:extLst>
          </p:cNvPr>
          <p:cNvSpPr/>
          <p:nvPr/>
        </p:nvSpPr>
        <p:spPr>
          <a:xfrm>
            <a:off x="2291508" y="3734718"/>
            <a:ext cx="705080" cy="561860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78172-88E3-1CCB-C239-AA9456E1783F}"/>
              </a:ext>
            </a:extLst>
          </p:cNvPr>
          <p:cNvSpPr/>
          <p:nvPr/>
        </p:nvSpPr>
        <p:spPr>
          <a:xfrm>
            <a:off x="4526096" y="5626904"/>
            <a:ext cx="2975998" cy="652710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matrices</a:t>
            </a:r>
            <a:r>
              <a:rPr lang="en-US" sz="3600" dirty="0"/>
              <a:t>: Double the dimensions, double the fun!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625" y="945023"/>
            <a:ext cx="3712726" cy="582792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matrix(1:6, </a:t>
            </a:r>
            <a:r>
              <a:rPr lang="en-US" dirty="0" err="1">
                <a:solidFill>
                  <a:schemeClr val="accent1"/>
                </a:solidFill>
              </a:rPr>
              <a:t>nrow</a:t>
            </a:r>
            <a:r>
              <a:rPr lang="en-US" dirty="0">
                <a:solidFill>
                  <a:schemeClr val="accent1"/>
                </a:solidFill>
              </a:rPr>
              <a:t>=2, </a:t>
            </a:r>
            <a:r>
              <a:rPr lang="en-US" dirty="0" err="1">
                <a:solidFill>
                  <a:schemeClr val="accent1"/>
                </a:solidFill>
              </a:rPr>
              <a:t>ncol</a:t>
            </a:r>
            <a:r>
              <a:rPr lang="en-US" dirty="0">
                <a:solidFill>
                  <a:schemeClr val="accent1"/>
                </a:solidFill>
              </a:rPr>
              <a:t>=3)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[,1] [,2] [,3]</a:t>
            </a:r>
          </a:p>
          <a:p>
            <a:pPr marL="0" indent="0">
              <a:buNone/>
            </a:pPr>
            <a:r>
              <a:rPr lang="en-US" dirty="0"/>
              <a:t>[1,]    1    3    5</a:t>
            </a:r>
          </a:p>
          <a:p>
            <a:pPr marL="0" indent="0">
              <a:buNone/>
            </a:pPr>
            <a:r>
              <a:rPr lang="en-US" dirty="0"/>
              <a:t>[2,]    2    4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A[1, 3]   # row 1, column 3</a:t>
            </a:r>
          </a:p>
          <a:p>
            <a:pPr marL="0" indent="0">
              <a:buNone/>
            </a:pPr>
            <a:r>
              <a:rPr lang="en-US" dirty="0"/>
              <a:t>[1] 5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1]      # all of column 1</a:t>
            </a:r>
          </a:p>
          <a:p>
            <a:pPr marL="0" indent="0">
              <a:buNone/>
            </a:pPr>
            <a:r>
              <a:rPr lang="en-US" dirty="0"/>
              <a:t>[1] 1 2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A[2, ]      # all of row 2</a:t>
            </a:r>
          </a:p>
          <a:p>
            <a:pPr marL="0" indent="0">
              <a:buNone/>
            </a:pPr>
            <a:r>
              <a:rPr lang="en-US" dirty="0"/>
              <a:t>[1] 2 4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2:3]   # columns 2 and 3</a:t>
            </a:r>
          </a:p>
          <a:p>
            <a:pPr marL="0" indent="0">
              <a:buNone/>
            </a:pPr>
            <a:r>
              <a:rPr lang="en-US" dirty="0"/>
              <a:t>     [,1] [,2]</a:t>
            </a:r>
          </a:p>
          <a:p>
            <a:pPr marL="0" indent="0">
              <a:buNone/>
            </a:pPr>
            <a:r>
              <a:rPr lang="en-US" dirty="0"/>
              <a:t>[1,]    3    5</a:t>
            </a:r>
          </a:p>
          <a:p>
            <a:pPr marL="0" indent="0">
              <a:buNone/>
            </a:pPr>
            <a:r>
              <a:rPr lang="en-US" dirty="0"/>
              <a:t>[2,]    4    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6095999" y="1036319"/>
            <a:ext cx="5579807" cy="50673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Similar rules apply, except with </a:t>
            </a:r>
            <a:r>
              <a:rPr lang="en-US" sz="2400" b="1" dirty="0"/>
              <a:t>row </a:t>
            </a:r>
            <a:r>
              <a:rPr lang="en-US" sz="2400" dirty="0"/>
              <a:t>and </a:t>
            </a:r>
            <a:r>
              <a:rPr lang="en-US" sz="2400" b="1" dirty="0"/>
              <a:t>column</a:t>
            </a:r>
            <a:r>
              <a:rPr lang="en-US" sz="2400" dirty="0"/>
              <a:t> indices</a:t>
            </a:r>
          </a:p>
          <a:p>
            <a:r>
              <a:rPr lang="en-US" sz="2400" dirty="0"/>
              <a:t>Use a comma between row and column</a:t>
            </a:r>
          </a:p>
          <a:p>
            <a:r>
              <a:rPr lang="en-US" sz="2400" dirty="0"/>
              <a:t>Leaving a row or column index empty will select everybody in that dimension</a:t>
            </a:r>
          </a:p>
          <a:p>
            <a:pPr lvl="1"/>
            <a:r>
              <a:rPr lang="en-US" sz="2000" dirty="0"/>
              <a:t>Matt will often be heard at his desk muttering “Row 42, column ALL…”</a:t>
            </a:r>
          </a:p>
          <a:p>
            <a:r>
              <a:rPr lang="en-US" sz="2400" dirty="0"/>
              <a:t>Output will be vector OR matrix, depending on input</a:t>
            </a:r>
          </a:p>
          <a:p>
            <a:r>
              <a:rPr lang="en-US" sz="2400" i="1" dirty="0"/>
              <a:t>R gives you clues: [ ,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0AD94C-9823-DFAB-2215-E83B78E19589}"/>
              </a:ext>
            </a:extLst>
          </p:cNvPr>
          <p:cNvGrpSpPr/>
          <p:nvPr/>
        </p:nvGrpSpPr>
        <p:grpSpPr>
          <a:xfrm>
            <a:off x="325058" y="1139594"/>
            <a:ext cx="854412" cy="1526271"/>
            <a:chOff x="7503060" y="1852065"/>
            <a:chExt cx="854412" cy="1526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D29F9-2506-2380-3D76-B1D2BA16A4BA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DB23E-C0C9-4AF1-94C3-DFB196BF4499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4A7EE0-D4F4-2931-49FB-A080F09E177F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7D69E8-B13D-57A4-62E8-A13D01BA8D79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376AD-FBF5-941A-95D8-B5C1F56AB524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7454CA-2942-DEC6-E592-E453F744EF66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72BF85-E129-EC2A-91E9-1946A01259AC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A5C44C-E2AE-52EB-F79E-DE1C7416BB73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079294-8DA9-7AAE-57C0-B8A15C0E4532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7BF19E-4102-16F7-8BB0-7D53A5B2DD8C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24C9B0-EA82-0E5E-B23C-59FA5B38C72A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882E6B-AEA4-35CC-CDEA-B814C45E6F86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373F39-CAA6-F339-51A5-B79507F171AC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365D80-6618-C571-0651-11375C76F2D6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DB19F7-A373-0623-6A61-9698637DF667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418C8A-68A4-E3F7-565E-412A7AC55304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EAE8EC-1995-4F3C-60F9-81AD31012A5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92C8B9-40EB-9572-4A31-BEEFFAD2776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A512E4-13ED-D9D3-F369-DDEB0A7C6E47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0FD10-6EFC-EAFD-3A11-15FB99BB8283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50C8DE-3ABD-60AE-F29A-B4BA37950595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6197C5-EC04-4F86-174F-8E9F12BDBC93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A855C1-4638-93A7-DC03-E4B475ABE75A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45C7A1E-C93A-C7AD-E230-AE377CD66A3A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E7292B-41E4-2E3F-591C-70852E7FC3F8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1F4C5-87DD-EE94-E0C1-B76ADEFC7E16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415A2-C44E-1608-4280-AADD474D9CE8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F33523-4C1F-D9FC-3988-B91B54BE933E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21DCBB8-AB14-9C41-EAC6-1C58D5C46832}"/>
              </a:ext>
            </a:extLst>
          </p:cNvPr>
          <p:cNvSpPr txBox="1">
            <a:spLocks/>
          </p:cNvSpPr>
          <p:nvPr/>
        </p:nvSpPr>
        <p:spPr>
          <a:xfrm>
            <a:off x="3555587" y="1465494"/>
            <a:ext cx="1752365" cy="2860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Column numbers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14D05E6-D0C8-D634-B0C4-C0D5282C88CF}"/>
              </a:ext>
            </a:extLst>
          </p:cNvPr>
          <p:cNvSpPr txBox="1">
            <a:spLocks/>
          </p:cNvSpPr>
          <p:nvPr/>
        </p:nvSpPr>
        <p:spPr>
          <a:xfrm>
            <a:off x="3484512" y="2302460"/>
            <a:ext cx="1752365" cy="2860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Row numbers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E03371-1649-706D-1BD0-176849BFFEB1}"/>
              </a:ext>
            </a:extLst>
          </p:cNvPr>
          <p:cNvCxnSpPr/>
          <p:nvPr/>
        </p:nvCxnSpPr>
        <p:spPr>
          <a:xfrm flipH="1">
            <a:off x="3264044" y="1635057"/>
            <a:ext cx="291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0DA6DD-DEE1-D38D-E68B-85C8B037A346}"/>
              </a:ext>
            </a:extLst>
          </p:cNvPr>
          <p:cNvGrpSpPr/>
          <p:nvPr/>
        </p:nvGrpSpPr>
        <p:grpSpPr>
          <a:xfrm>
            <a:off x="2214391" y="2330361"/>
            <a:ext cx="1195424" cy="159725"/>
            <a:chOff x="2126255" y="2286293"/>
            <a:chExt cx="1195424" cy="159725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FA965C1-71B7-0242-575B-C08AB21F4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15CC177-618A-1E40-1EF3-33232E1D466E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7E6C6C99-81C3-E38B-1D7A-CD3D136CF587}"/>
              </a:ext>
            </a:extLst>
          </p:cNvPr>
          <p:cNvSpPr/>
          <p:nvPr/>
        </p:nvSpPr>
        <p:spPr>
          <a:xfrm>
            <a:off x="2926368" y="1756935"/>
            <a:ext cx="352540" cy="300431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9E93A79-3BFF-C103-CFB3-A42808A3E775}"/>
              </a:ext>
            </a:extLst>
          </p:cNvPr>
          <p:cNvSpPr/>
          <p:nvPr/>
        </p:nvSpPr>
        <p:spPr>
          <a:xfrm>
            <a:off x="2400669" y="1758090"/>
            <a:ext cx="352540" cy="58840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E2CB20-588C-5765-2705-E5C9C88EB267}"/>
              </a:ext>
            </a:extLst>
          </p:cNvPr>
          <p:cNvSpPr/>
          <p:nvPr/>
        </p:nvSpPr>
        <p:spPr>
          <a:xfrm>
            <a:off x="2692721" y="1741953"/>
            <a:ext cx="573130" cy="614035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26ADC3A-9F76-6301-BF5E-5F7E697F05EE}"/>
              </a:ext>
            </a:extLst>
          </p:cNvPr>
          <p:cNvSpPr/>
          <p:nvPr/>
        </p:nvSpPr>
        <p:spPr>
          <a:xfrm>
            <a:off x="2415026" y="2027533"/>
            <a:ext cx="862125" cy="377902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1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/>
      <p:bldP spid="37" grpId="0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matrices</a:t>
            </a:r>
            <a:r>
              <a:rPr lang="en-US" sz="3600" dirty="0"/>
              <a:t>: Double the dimensions, double the fun!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625" y="945023"/>
            <a:ext cx="3712726" cy="58279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matrix(1:6, </a:t>
            </a:r>
            <a:r>
              <a:rPr lang="en-US" dirty="0" err="1">
                <a:solidFill>
                  <a:schemeClr val="accent1"/>
                </a:solidFill>
              </a:rPr>
              <a:t>nrow</a:t>
            </a:r>
            <a:r>
              <a:rPr lang="en-US" dirty="0">
                <a:solidFill>
                  <a:schemeClr val="accent1"/>
                </a:solidFill>
              </a:rPr>
              <a:t>=2, </a:t>
            </a:r>
            <a:r>
              <a:rPr lang="en-US" dirty="0" err="1">
                <a:solidFill>
                  <a:schemeClr val="accent1"/>
                </a:solidFill>
              </a:rPr>
              <a:t>ncol</a:t>
            </a:r>
            <a:r>
              <a:rPr lang="en-US" dirty="0">
                <a:solidFill>
                  <a:schemeClr val="accent1"/>
                </a:solidFill>
              </a:rPr>
              <a:t>=3)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[,1] [,2] [,3]</a:t>
            </a:r>
          </a:p>
          <a:p>
            <a:pPr marL="0" indent="0">
              <a:buNone/>
            </a:pPr>
            <a:r>
              <a:rPr lang="en-US" dirty="0"/>
              <a:t>[1,]    1    3    5</a:t>
            </a:r>
          </a:p>
          <a:p>
            <a:pPr marL="0" indent="0">
              <a:buNone/>
            </a:pPr>
            <a:r>
              <a:rPr lang="en-US" dirty="0"/>
              <a:t>[2,]    2    4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A[1, 1] &lt;- 999     # row 1, column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 [,1]     [,2]  [,3]</a:t>
            </a:r>
          </a:p>
          <a:p>
            <a:pPr marL="0" indent="0">
              <a:buNone/>
            </a:pPr>
            <a:r>
              <a:rPr lang="en-US" dirty="0"/>
              <a:t>[1,]    999    3      5</a:t>
            </a:r>
          </a:p>
          <a:p>
            <a:pPr marL="0" indent="0">
              <a:buNone/>
            </a:pPr>
            <a:r>
              <a:rPr lang="en-US" dirty="0"/>
              <a:t>[2,]        2     4  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3] &lt;- 999     # all of column 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 [,1]     [,2]  [,3]</a:t>
            </a:r>
          </a:p>
          <a:p>
            <a:pPr marL="0" indent="0">
              <a:buNone/>
            </a:pPr>
            <a:r>
              <a:rPr lang="en-US" dirty="0"/>
              <a:t>[1,]    999    3      999</a:t>
            </a:r>
          </a:p>
          <a:p>
            <a:pPr marL="0" indent="0">
              <a:buNone/>
            </a:pPr>
            <a:r>
              <a:rPr lang="en-US" dirty="0"/>
              <a:t>[2,]        2     4      999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6095999" y="1036319"/>
            <a:ext cx="5579807" cy="45232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You can assign things using indices in [ ], with the same rules we just saw!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0AD94C-9823-DFAB-2215-E83B78E19589}"/>
              </a:ext>
            </a:extLst>
          </p:cNvPr>
          <p:cNvGrpSpPr/>
          <p:nvPr/>
        </p:nvGrpSpPr>
        <p:grpSpPr>
          <a:xfrm>
            <a:off x="325058" y="1139594"/>
            <a:ext cx="854412" cy="1526271"/>
            <a:chOff x="7503060" y="1852065"/>
            <a:chExt cx="854412" cy="1526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D29F9-2506-2380-3D76-B1D2BA16A4BA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DB23E-C0C9-4AF1-94C3-DFB196BF4499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4A7EE0-D4F4-2931-49FB-A080F09E177F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7D69E8-B13D-57A4-62E8-A13D01BA8D79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376AD-FBF5-941A-95D8-B5C1F56AB524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7454CA-2942-DEC6-E592-E453F744EF66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72BF85-E129-EC2A-91E9-1946A01259AC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A5C44C-E2AE-52EB-F79E-DE1C7416BB73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079294-8DA9-7AAE-57C0-B8A15C0E4532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7BF19E-4102-16F7-8BB0-7D53A5B2DD8C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24C9B0-EA82-0E5E-B23C-59FA5B38C72A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882E6B-AEA4-35CC-CDEA-B814C45E6F86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373F39-CAA6-F339-51A5-B79507F171AC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365D80-6618-C571-0651-11375C76F2D6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DB19F7-A373-0623-6A61-9698637DF667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418C8A-68A4-E3F7-565E-412A7AC55304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EAE8EC-1995-4F3C-60F9-81AD31012A5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92C8B9-40EB-9572-4A31-BEEFFAD2776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A512E4-13ED-D9D3-F369-DDEB0A7C6E47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0FD10-6EFC-EAFD-3A11-15FB99BB8283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50C8DE-3ABD-60AE-F29A-B4BA37950595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6197C5-EC04-4F86-174F-8E9F12BDBC93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A855C1-4638-93A7-DC03-E4B475ABE75A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45C7A1E-C93A-C7AD-E230-AE377CD66A3A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E7292B-41E4-2E3F-591C-70852E7FC3F8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1F4C5-87DD-EE94-E0C1-B76ADEFC7E16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415A2-C44E-1608-4280-AADD474D9CE8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F33523-4C1F-D9FC-3988-B91B54BE933E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29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 err="1"/>
              <a:t>data.frames</a:t>
            </a:r>
            <a:r>
              <a:rPr lang="en-US" sz="3600" dirty="0"/>
              <a:t>: It’s beginning to look a lot like data!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658" y="914401"/>
            <a:ext cx="4910487" cy="56633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&lt;- </a:t>
            </a:r>
            <a:r>
              <a:rPr lang="en-US" dirty="0" err="1">
                <a:solidFill>
                  <a:schemeClr val="accent1"/>
                </a:solidFill>
              </a:rPr>
              <a:t>data.frame</a:t>
            </a:r>
            <a:r>
              <a:rPr lang="en-US" dirty="0">
                <a:solidFill>
                  <a:schemeClr val="accent1"/>
                </a:solidFill>
              </a:rPr>
              <a:t>(sex = c("Male", "Male", "Female"),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length = c(110, 112, 90),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weight = c(3, 3.4, 2.4),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age = c(2, 2, 1))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    # looking at the whole thing</a:t>
            </a:r>
          </a:p>
          <a:p>
            <a:pPr marL="0" indent="0">
              <a:buNone/>
            </a:pPr>
            <a:r>
              <a:rPr lang="en-US" dirty="0"/>
              <a:t> 	sex 	length 	weight 	age</a:t>
            </a:r>
          </a:p>
          <a:p>
            <a:pPr marL="0" indent="0">
              <a:buNone/>
            </a:pPr>
            <a:r>
              <a:rPr lang="en-US" dirty="0"/>
              <a:t>1   	Male    	110    	3.0   	2</a:t>
            </a:r>
          </a:p>
          <a:p>
            <a:pPr marL="0" indent="0">
              <a:buNone/>
            </a:pPr>
            <a:r>
              <a:rPr lang="en-US" dirty="0"/>
              <a:t>2   	Male    	112    	3.4   	2</a:t>
            </a:r>
          </a:p>
          <a:p>
            <a:pPr marL="0" indent="0">
              <a:buNone/>
            </a:pPr>
            <a:r>
              <a:rPr lang="en-US" dirty="0"/>
              <a:t>3 	Female         90    	2.4   	1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[, 1]    # selecting a column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   "Male"   "Female"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[1, ]    # selecting a row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   sex length weight age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1 Male    110      3   2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[1, 1]   # selecting a single element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238082" y="1165257"/>
            <a:ext cx="4562890" cy="41216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 err="1"/>
              <a:t>data.frames</a:t>
            </a:r>
            <a:r>
              <a:rPr lang="en-US" sz="2400" dirty="0"/>
              <a:t> can have a different class (numeric, character, etc.) for each column!</a:t>
            </a:r>
          </a:p>
          <a:p>
            <a:r>
              <a:rPr lang="en-US" sz="2400" dirty="0"/>
              <a:t>You can extract rows or columns of a </a:t>
            </a:r>
            <a:r>
              <a:rPr lang="en-US" sz="2400" dirty="0" err="1"/>
              <a:t>data.frame</a:t>
            </a:r>
            <a:r>
              <a:rPr lang="en-US" sz="2400" dirty="0"/>
              <a:t> just like with a matrix</a:t>
            </a:r>
          </a:p>
          <a:p>
            <a:pPr lvl="1"/>
            <a:r>
              <a:rPr lang="en-US" sz="2000" dirty="0"/>
              <a:t>This will give you either a vector or a </a:t>
            </a:r>
            <a:r>
              <a:rPr lang="en-US" sz="2000" dirty="0" err="1"/>
              <a:t>data.frame</a:t>
            </a:r>
            <a:r>
              <a:rPr lang="en-US" sz="2000" dirty="0"/>
              <a:t> as output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5440DA-931B-1C33-BE34-F2457A62EEA2}"/>
              </a:ext>
            </a:extLst>
          </p:cNvPr>
          <p:cNvGrpSpPr/>
          <p:nvPr/>
        </p:nvGrpSpPr>
        <p:grpSpPr>
          <a:xfrm>
            <a:off x="391028" y="1060750"/>
            <a:ext cx="1288880" cy="1528488"/>
            <a:chOff x="4081804" y="4654478"/>
            <a:chExt cx="1288880" cy="15284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51260-1829-78D9-D1B1-7F6F0980E10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3F3B13-7C53-D8D4-67B6-3A42C0381D54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5520-C272-0AF3-9022-8CF93D03DC45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4A43C-370D-E1BC-A9F7-B6F207F1C534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8A2502-63CF-E394-EE98-C444178F1484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2A0E7-74E3-4F6B-65A7-42354634F1E8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93677E-5615-60B2-DA32-F485418E2681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935FED-15FA-F4A4-B756-702631CB576C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487CB-D07E-2CE0-FCCE-4B83D4DDED46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B56515-5E5F-2C75-B4DC-6607E8C8522F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39ECBC-6680-5176-42ED-9C7190802B63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9A2B96-59F2-A396-7FBA-410FC2907D29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BF23B8-4ADD-BB2F-5221-BABBEFDBF3FE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862B88-9FA1-4067-F166-2B27F927343A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B05A8F-7FED-7BAB-C263-FA41FFAD5166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0E230B-0A38-748F-EB7D-166DB3AB4D03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20FB9F-1377-52B3-4F35-62B35CBD59A0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06DEF1-400A-6329-36CE-367B04E5B92F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6B2AF7-B2F3-9301-32CB-AA928192F26C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A4B313-604A-B323-7AB6-6E3B8F6081BD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74D0300-E4D3-9A38-D076-E33958086E20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A20DC98-F0F0-1BED-E58E-CA0AE9614F8A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2A8C2F-6CA7-D15E-4A96-9EF812721AE4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CA4181-B902-EF9F-E04D-AC695E6D7ADF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B09B84-1980-FE93-F2F8-1B50B19CCA54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A6FCE9-48D4-3521-B6FB-C810112D85D7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B69649-FB83-5545-D114-1DA22F362E0B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0BF5981-C991-0EFF-F263-0DBF93F1E398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56CD2E-237D-69C9-323E-F5952BEE77C5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0ABA30-24DC-01AC-439B-EE65EDBDDC3A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701E802-177E-BD19-62CC-79A3434A1CB7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4850A1-6488-B2BD-97A4-45DFEE9C3072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DE3B38-11DF-AD9B-543A-867A4C7F4C43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61AA9D-85B7-811F-9D47-65B75A972806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3E92BC-FE6E-E970-33F7-D19A72CC65BF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156979-1C8A-B300-6319-1E1F538D492C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BD1CFD-B3AB-E63D-4943-14220FC345BD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4280D0-0242-1AB4-2901-5F12EE36F985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6857AA-2AC2-49F8-FB0D-919BE8DB4EAA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FD9D89-93EC-9FA3-0F30-C4C7F3408D66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C94D5A-1796-939F-487C-119554F7DBF8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22B2D69-9E6E-0C7A-2774-A1F6909B6444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625E8185-8D19-EB77-F494-BA01F99170D7}"/>
              </a:ext>
            </a:extLst>
          </p:cNvPr>
          <p:cNvSpPr/>
          <p:nvPr/>
        </p:nvSpPr>
        <p:spPr>
          <a:xfrm>
            <a:off x="2855405" y="2586985"/>
            <a:ext cx="1042225" cy="979174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7FB1B59-58CC-4902-AB0F-7B86FE783586}"/>
              </a:ext>
            </a:extLst>
          </p:cNvPr>
          <p:cNvSpPr/>
          <p:nvPr/>
        </p:nvSpPr>
        <p:spPr>
          <a:xfrm>
            <a:off x="2855405" y="2529835"/>
            <a:ext cx="3533965" cy="407676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145750-7C0B-D191-55DF-C609CC7EAF64}"/>
              </a:ext>
            </a:extLst>
          </p:cNvPr>
          <p:cNvSpPr/>
          <p:nvPr/>
        </p:nvSpPr>
        <p:spPr>
          <a:xfrm>
            <a:off x="3014214" y="2529835"/>
            <a:ext cx="677676" cy="407676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3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 err="1"/>
              <a:t>data.frames</a:t>
            </a:r>
            <a:r>
              <a:rPr lang="en-US" sz="3600" dirty="0"/>
              <a:t>: It’s beginning to look a lot like data!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658" y="914401"/>
            <a:ext cx="4910487" cy="59435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&lt;- </a:t>
            </a:r>
            <a:r>
              <a:rPr lang="en-US" dirty="0" err="1">
                <a:solidFill>
                  <a:schemeClr val="accent1"/>
                </a:solidFill>
              </a:rPr>
              <a:t>data.frame</a:t>
            </a:r>
            <a:r>
              <a:rPr lang="en-US" dirty="0">
                <a:solidFill>
                  <a:schemeClr val="accent1"/>
                </a:solidFill>
              </a:rPr>
              <a:t>(sex = c("Male", "Male", "Female"),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length = c(110, 112, 90),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weight = c(3, 3.4, 2.4),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age = c(2, 2, 1))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    # looking at the whole thing</a:t>
            </a:r>
          </a:p>
          <a:p>
            <a:pPr marL="0" indent="0">
              <a:buNone/>
            </a:pPr>
            <a:r>
              <a:rPr lang="en-US" dirty="0"/>
              <a:t> 	sex 	length 	weight 	age</a:t>
            </a:r>
          </a:p>
          <a:p>
            <a:pPr marL="0" indent="0">
              <a:buNone/>
            </a:pPr>
            <a:r>
              <a:rPr lang="en-US" dirty="0"/>
              <a:t>1   	Male    	110    	3.0   	2</a:t>
            </a:r>
          </a:p>
          <a:p>
            <a:pPr marL="0" indent="0">
              <a:buNone/>
            </a:pPr>
            <a:r>
              <a:rPr lang="en-US" dirty="0"/>
              <a:t>2   	Male    	112    	3.4   	2</a:t>
            </a:r>
          </a:p>
          <a:p>
            <a:pPr marL="0" indent="0">
              <a:buNone/>
            </a:pPr>
            <a:r>
              <a:rPr lang="en-US" dirty="0"/>
              <a:t>3 	Female         90    	2.4   	1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myfirstdf$sex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      # selecting a column by name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   "Male"   "Female“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myfirstdf$age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[3] &lt;- 999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myfirstdf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 	sex 	length 	weight 	 age</a:t>
            </a:r>
          </a:p>
          <a:p>
            <a:pPr marL="0" indent="0">
              <a:buNone/>
            </a:pPr>
            <a:r>
              <a:rPr lang="en-US" dirty="0"/>
              <a:t>1   	Male    	110    	3.0   	    2</a:t>
            </a:r>
          </a:p>
          <a:p>
            <a:pPr marL="0" indent="0">
              <a:buNone/>
            </a:pPr>
            <a:r>
              <a:rPr lang="en-US" dirty="0"/>
              <a:t>2   	Male    	112    	3.4   	    2</a:t>
            </a:r>
          </a:p>
          <a:p>
            <a:pPr marL="0" indent="0">
              <a:buNone/>
            </a:pPr>
            <a:r>
              <a:rPr lang="en-US" dirty="0"/>
              <a:t>3 	Female         90    	2.4   	999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238082" y="1165257"/>
            <a:ext cx="4562890" cy="41216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b="1" dirty="0"/>
              <a:t>New rule: the $ operator selects something by name!</a:t>
            </a:r>
          </a:p>
          <a:p>
            <a:r>
              <a:rPr lang="en-US" sz="2400" dirty="0"/>
              <a:t>You can combine $ with [ ] and use the same rules we’ve already seen</a:t>
            </a: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5440DA-931B-1C33-BE34-F2457A62EEA2}"/>
              </a:ext>
            </a:extLst>
          </p:cNvPr>
          <p:cNvGrpSpPr/>
          <p:nvPr/>
        </p:nvGrpSpPr>
        <p:grpSpPr>
          <a:xfrm>
            <a:off x="391028" y="1060750"/>
            <a:ext cx="1288880" cy="1528488"/>
            <a:chOff x="4081804" y="4654478"/>
            <a:chExt cx="1288880" cy="15284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51260-1829-78D9-D1B1-7F6F0980E10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3F3B13-7C53-D8D4-67B6-3A42C0381D54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5520-C272-0AF3-9022-8CF93D03DC45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4A43C-370D-E1BC-A9F7-B6F207F1C534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8A2502-63CF-E394-EE98-C444178F1484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2A0E7-74E3-4F6B-65A7-42354634F1E8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93677E-5615-60B2-DA32-F485418E2681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935FED-15FA-F4A4-B756-702631CB576C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487CB-D07E-2CE0-FCCE-4B83D4DDED46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B56515-5E5F-2C75-B4DC-6607E8C8522F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39ECBC-6680-5176-42ED-9C7190802B63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9A2B96-59F2-A396-7FBA-410FC2907D29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BF23B8-4ADD-BB2F-5221-BABBEFDBF3FE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862B88-9FA1-4067-F166-2B27F927343A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B05A8F-7FED-7BAB-C263-FA41FFAD5166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0E230B-0A38-748F-EB7D-166DB3AB4D03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20FB9F-1377-52B3-4F35-62B35CBD59A0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06DEF1-400A-6329-36CE-367B04E5B92F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6B2AF7-B2F3-9301-32CB-AA928192F26C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A4B313-604A-B323-7AB6-6E3B8F6081BD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74D0300-E4D3-9A38-D076-E33958086E20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A20DC98-F0F0-1BED-E58E-CA0AE9614F8A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2A8C2F-6CA7-D15E-4A96-9EF812721AE4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CA4181-B902-EF9F-E04D-AC695E6D7ADF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B09B84-1980-FE93-F2F8-1B50B19CCA54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A6FCE9-48D4-3521-B6FB-C810112D85D7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B69649-FB83-5545-D114-1DA22F362E0B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0BF5981-C991-0EFF-F263-0DBF93F1E398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56CD2E-237D-69C9-323E-F5952BEE77C5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0ABA30-24DC-01AC-439B-EE65EDBDDC3A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701E802-177E-BD19-62CC-79A3434A1CB7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4850A1-6488-B2BD-97A4-45DFEE9C3072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DE3B38-11DF-AD9B-543A-867A4C7F4C43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61AA9D-85B7-811F-9D47-65B75A972806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3E92BC-FE6E-E970-33F7-D19A72CC65BF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156979-1C8A-B300-6319-1E1F538D492C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BD1CFD-B3AB-E63D-4943-14220FC345BD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4280D0-0242-1AB4-2901-5F12EE36F985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6857AA-2AC2-49F8-FB0D-919BE8DB4EAA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FD9D89-93EC-9FA3-0F30-C4C7F3408D66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C94D5A-1796-939F-487C-119554F7DBF8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22B2D69-9E6E-0C7A-2774-A1F6909B6444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27FB1B59-58CC-4902-AB0F-7B86FE783586}"/>
              </a:ext>
            </a:extLst>
          </p:cNvPr>
          <p:cNvSpPr/>
          <p:nvPr/>
        </p:nvSpPr>
        <p:spPr>
          <a:xfrm>
            <a:off x="2889695" y="2529834"/>
            <a:ext cx="981647" cy="985393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F93654-04C7-CA49-5C9D-822D99C779C4}"/>
              </a:ext>
            </a:extLst>
          </p:cNvPr>
          <p:cNvSpPr/>
          <p:nvPr/>
        </p:nvSpPr>
        <p:spPr>
          <a:xfrm>
            <a:off x="5737860" y="6297930"/>
            <a:ext cx="594360" cy="381498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49BE717-35CE-00F1-22AF-3C6CD4979A28}"/>
              </a:ext>
            </a:extLst>
          </p:cNvPr>
          <p:cNvSpPr txBox="1">
            <a:spLocks/>
          </p:cNvSpPr>
          <p:nvPr/>
        </p:nvSpPr>
        <p:spPr>
          <a:xfrm>
            <a:off x="740575" y="3382011"/>
            <a:ext cx="1324301" cy="51291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The $ selects by name!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974C7B-776A-2B1E-9EFD-B2BA1A61016D}"/>
              </a:ext>
            </a:extLst>
          </p:cNvPr>
          <p:cNvGrpSpPr/>
          <p:nvPr/>
        </p:nvGrpSpPr>
        <p:grpSpPr>
          <a:xfrm rot="10800000">
            <a:off x="2023110" y="3585209"/>
            <a:ext cx="923392" cy="159725"/>
            <a:chOff x="2126255" y="2286293"/>
            <a:chExt cx="1195424" cy="159725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10FD40B-AE9C-E2FB-3823-29DF935C9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7485637-1B12-B04E-4ADF-AA81F04C1D7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708CF9C-60A9-B83C-7D88-BF5AA22016D1}"/>
              </a:ext>
            </a:extLst>
          </p:cNvPr>
          <p:cNvSpPr txBox="1">
            <a:spLocks/>
          </p:cNvSpPr>
          <p:nvPr/>
        </p:nvSpPr>
        <p:spPr>
          <a:xfrm>
            <a:off x="354331" y="4554054"/>
            <a:ext cx="1756266" cy="3135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Selection by name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C7B992-F7B0-E20B-0E8A-26FABD66AFD2}"/>
              </a:ext>
            </a:extLst>
          </p:cNvPr>
          <p:cNvGrpSpPr/>
          <p:nvPr/>
        </p:nvGrpSpPr>
        <p:grpSpPr>
          <a:xfrm rot="10800000">
            <a:off x="2023110" y="4729303"/>
            <a:ext cx="923392" cy="159725"/>
            <a:chOff x="2126255" y="2286293"/>
            <a:chExt cx="1195424" cy="159725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ACE0FE2-4934-9BF5-EA20-4FA776552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2C7E6F7-EF2B-896E-F0CE-195BF1C86C6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FD0841CC-B202-18A2-20D9-263F8FBE17C3}"/>
              </a:ext>
            </a:extLst>
          </p:cNvPr>
          <p:cNvSpPr txBox="1">
            <a:spLocks/>
          </p:cNvSpPr>
          <p:nvPr/>
        </p:nvSpPr>
        <p:spPr>
          <a:xfrm>
            <a:off x="4385234" y="4588344"/>
            <a:ext cx="2004135" cy="3135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Assignment by index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662E30B-3B5B-71A7-284A-E15AC1C52087}"/>
              </a:ext>
            </a:extLst>
          </p:cNvPr>
          <p:cNvGrpSpPr/>
          <p:nvPr/>
        </p:nvGrpSpPr>
        <p:grpSpPr>
          <a:xfrm rot="10800000" flipH="1">
            <a:off x="3386062" y="4735446"/>
            <a:ext cx="939391" cy="159727"/>
            <a:chOff x="2126255" y="2286293"/>
            <a:chExt cx="1195424" cy="159725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462DD9D-BFCF-2231-0825-A855CD29F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5C1314F-3A08-2ACE-009F-84378CDBC569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16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2" grpId="0" animBg="1"/>
      <p:bldP spid="52" grpId="1" animBg="1"/>
      <p:bldP spid="53" grpId="0"/>
      <p:bldP spid="57" grpId="0"/>
      <p:bldP spid="6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DE289-7EEA-7CC3-5892-B70644EDC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205" y="1520555"/>
            <a:ext cx="3832614" cy="2214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1+2*3-4^5/(6-7) </a:t>
            </a:r>
          </a:p>
          <a:p>
            <a:pPr marL="0" indent="0">
              <a:buNone/>
            </a:pPr>
            <a:r>
              <a:rPr lang="en-US" dirty="0"/>
              <a:t>[1] 1031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1+(2*3)-((4^5)/(6-7))</a:t>
            </a:r>
          </a:p>
          <a:p>
            <a:pPr marL="0" indent="0">
              <a:buNone/>
            </a:pPr>
            <a:r>
              <a:rPr lang="en-US" dirty="0"/>
              <a:t>[1] 1031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964F4-A5BA-7AD1-901A-BDE2F2258B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19C2B9C-4F34-1973-AC67-ABEEF0F17293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29B6C-18F0-9610-3C48-481090BBAB66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563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954" y="2003469"/>
            <a:ext cx="6808840" cy="2917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sqrt(49)</a:t>
            </a:r>
          </a:p>
          <a:p>
            <a:pPr marL="0" indent="0">
              <a:buNone/>
            </a:pPr>
            <a:r>
              <a:rPr lang="en-US" dirty="0"/>
              <a:t>[1] 7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median(c(1, 1, 2, 3, 5, NA), na.rm=TRUE)</a:t>
            </a:r>
          </a:p>
          <a:p>
            <a:pPr marL="0" indent="0">
              <a:buNone/>
            </a:pPr>
            <a:r>
              <a:rPr lang="en-US" dirty="0"/>
              <a:t>[1]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849A61-A77E-00C9-65BE-EEF19CB433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9B9345-8D91-3DF1-F810-02CD03922044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CF747-EB75-65C3-B666-25337EAA4988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386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805" y="3003756"/>
            <a:ext cx="9906389" cy="1327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N_hat</a:t>
            </a:r>
            <a:r>
              <a:rPr lang="en-US" dirty="0">
                <a:solidFill>
                  <a:schemeClr val="accent1"/>
                </a:solidFill>
              </a:rPr>
              <a:t> &lt;- (n1 + 1)*(n2 + 1)/(m2 + 1) – 1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myNameIs</a:t>
            </a:r>
            <a:r>
              <a:rPr lang="en-US" dirty="0">
                <a:solidFill>
                  <a:schemeClr val="accent1"/>
                </a:solidFill>
              </a:rPr>
              <a:t> &lt;- c("Inigo Montoya", "Slim Shady", "Ozymandias")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2040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C6711-8A4C-BAC3-7512-FE04EBF656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1408" y="0"/>
            <a:ext cx="1100592" cy="26364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4E9EB6-ABCD-7B00-E30A-DCFB6110AD1F}"/>
              </a:ext>
            </a:extLst>
          </p:cNvPr>
          <p:cNvSpPr/>
          <p:nvPr/>
        </p:nvSpPr>
        <p:spPr>
          <a:xfrm>
            <a:off x="10993426" y="378135"/>
            <a:ext cx="211319" cy="155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63606-BE96-2553-1C11-D35562A18A2D}"/>
              </a:ext>
            </a:extLst>
          </p:cNvPr>
          <p:cNvSpPr/>
          <p:nvPr/>
        </p:nvSpPr>
        <p:spPr>
          <a:xfrm>
            <a:off x="12074253" y="-1"/>
            <a:ext cx="117747" cy="1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99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4A6288-DCE6-3EDF-2C26-C03D1F60E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916" y="4505502"/>
            <a:ext cx="4350775" cy="1187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c(1, 2, 3) * c(10, 20, 30) + 5</a:t>
            </a:r>
          </a:p>
          <a:p>
            <a:pPr marL="0" indent="0">
              <a:buNone/>
            </a:pPr>
            <a:r>
              <a:rPr lang="en-US" dirty="0"/>
              <a:t>[1] 15 45 95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  <a:p>
            <a:r>
              <a:rPr lang="en-US" dirty="0"/>
              <a:t>R uses </a:t>
            </a:r>
            <a:r>
              <a:rPr lang="en-US" b="1" dirty="0"/>
              <a:t>vectors</a:t>
            </a:r>
            <a:r>
              <a:rPr lang="en-US" dirty="0"/>
              <a:t> (ordered sets) and does most operations </a:t>
            </a:r>
            <a:r>
              <a:rPr lang="en-US" b="1" dirty="0"/>
              <a:t>vector-wise</a:t>
            </a:r>
            <a:endParaRPr lang="en-US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47667487-A728-A47D-9731-A242EC842E7C}"/>
              </a:ext>
            </a:extLst>
          </p:cNvPr>
          <p:cNvSpPr/>
          <p:nvPr/>
        </p:nvSpPr>
        <p:spPr>
          <a:xfrm rot="5400000">
            <a:off x="3640983" y="3743396"/>
            <a:ext cx="276466" cy="12388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C961234-44ED-4940-B5CD-36B63B56AB8E}"/>
              </a:ext>
            </a:extLst>
          </p:cNvPr>
          <p:cNvSpPr/>
          <p:nvPr/>
        </p:nvSpPr>
        <p:spPr>
          <a:xfrm rot="5400000">
            <a:off x="5524988" y="3498135"/>
            <a:ext cx="276466" cy="169872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CD4649A-4305-8659-9931-65DFC2346948}"/>
              </a:ext>
            </a:extLst>
          </p:cNvPr>
          <p:cNvSpPr/>
          <p:nvPr/>
        </p:nvSpPr>
        <p:spPr>
          <a:xfrm rot="5400000">
            <a:off x="6802798" y="4275854"/>
            <a:ext cx="297291" cy="1947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40B3202-4722-E89E-0EB0-D9ED35EB18DC}"/>
              </a:ext>
            </a:extLst>
          </p:cNvPr>
          <p:cNvSpPr/>
          <p:nvPr/>
        </p:nvSpPr>
        <p:spPr>
          <a:xfrm rot="16200000">
            <a:off x="4094557" y="5056688"/>
            <a:ext cx="276466" cy="123886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A550C-16D5-9DA8-EBA0-076D3A24A7A1}"/>
              </a:ext>
            </a:extLst>
          </p:cNvPr>
          <p:cNvSpPr txBox="1"/>
          <p:nvPr/>
        </p:nvSpPr>
        <p:spPr>
          <a:xfrm>
            <a:off x="3390968" y="3834439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B949F-6C90-4EC6-9416-BAB1E28EF8D1}"/>
              </a:ext>
            </a:extLst>
          </p:cNvPr>
          <p:cNvSpPr txBox="1"/>
          <p:nvPr/>
        </p:nvSpPr>
        <p:spPr>
          <a:xfrm>
            <a:off x="5276234" y="3829517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3C7E5-86C2-FD87-1CD9-EA7860BCDE0A}"/>
              </a:ext>
            </a:extLst>
          </p:cNvPr>
          <p:cNvSpPr txBox="1"/>
          <p:nvPr/>
        </p:nvSpPr>
        <p:spPr>
          <a:xfrm>
            <a:off x="3844542" y="5819269"/>
            <a:ext cx="776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791BF8-1E32-0092-E38C-8887BF79736E}"/>
              </a:ext>
            </a:extLst>
          </p:cNvPr>
          <p:cNvSpPr txBox="1"/>
          <p:nvPr/>
        </p:nvSpPr>
        <p:spPr>
          <a:xfrm>
            <a:off x="6660584" y="3819830"/>
            <a:ext cx="4317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number (actually a vector of length 1)</a:t>
            </a:r>
          </a:p>
        </p:txBody>
      </p:sp>
    </p:spTree>
    <p:extLst>
      <p:ext uri="{BB962C8B-B14F-4D97-AF65-F5344CB8AC3E}">
        <p14:creationId xmlns:p14="http://schemas.microsoft.com/office/powerpoint/2010/main" val="1644311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does math!</a:t>
            </a:r>
          </a:p>
          <a:p>
            <a:r>
              <a:rPr lang="en-US" dirty="0"/>
              <a:t>R uses </a:t>
            </a:r>
            <a:r>
              <a:rPr lang="en-US" b="1" dirty="0"/>
              <a:t>functions</a:t>
            </a:r>
            <a:r>
              <a:rPr lang="en-US" dirty="0"/>
              <a:t> with multiple possible </a:t>
            </a:r>
            <a:r>
              <a:rPr lang="en-US" b="1" dirty="0"/>
              <a:t>arguments </a:t>
            </a:r>
            <a:r>
              <a:rPr lang="en-US" dirty="0"/>
              <a:t>(inputs)</a:t>
            </a:r>
            <a:endParaRPr lang="en-US" b="1" dirty="0"/>
          </a:p>
          <a:p>
            <a:r>
              <a:rPr lang="en-US" dirty="0"/>
              <a:t>You can store results in </a:t>
            </a:r>
            <a:r>
              <a:rPr lang="en-US" b="1" dirty="0"/>
              <a:t>variables</a:t>
            </a:r>
            <a:r>
              <a:rPr lang="en-US" dirty="0"/>
              <a:t> that you create</a:t>
            </a:r>
          </a:p>
          <a:p>
            <a:pPr lvl="1"/>
            <a:r>
              <a:rPr lang="en-US" dirty="0"/>
              <a:t>Note: these go away when you close R, but that’s a good thing</a:t>
            </a:r>
          </a:p>
          <a:p>
            <a:r>
              <a:rPr lang="en-US" dirty="0"/>
              <a:t>R uses </a:t>
            </a:r>
            <a:r>
              <a:rPr lang="en-US" b="1" dirty="0"/>
              <a:t>vectors</a:t>
            </a:r>
            <a:r>
              <a:rPr lang="en-US" dirty="0"/>
              <a:t> (ordered sets) and does most operations </a:t>
            </a:r>
            <a:r>
              <a:rPr lang="en-US" b="1" dirty="0"/>
              <a:t>vector-wise</a:t>
            </a:r>
          </a:p>
          <a:p>
            <a:r>
              <a:rPr lang="en-US" dirty="0"/>
              <a:t>There are different </a:t>
            </a:r>
            <a:r>
              <a:rPr lang="en-US" b="1" dirty="0"/>
              <a:t>classes</a:t>
            </a:r>
            <a:r>
              <a:rPr lang="en-US" dirty="0"/>
              <a:t> of vectors (</a:t>
            </a:r>
            <a:r>
              <a:rPr lang="en-US" b="1" dirty="0"/>
              <a:t>logical</a:t>
            </a:r>
            <a:r>
              <a:rPr lang="en-US" dirty="0"/>
              <a:t>, </a:t>
            </a:r>
            <a:r>
              <a:rPr lang="en-US" b="1" dirty="0"/>
              <a:t>numeric</a:t>
            </a:r>
            <a:r>
              <a:rPr lang="en-US" dirty="0"/>
              <a:t>, </a:t>
            </a:r>
            <a:r>
              <a:rPr lang="en-US" b="1" dirty="0"/>
              <a:t>character</a:t>
            </a:r>
            <a:r>
              <a:rPr lang="en-US" dirty="0"/>
              <a:t>, </a:t>
            </a:r>
            <a:r>
              <a:rPr lang="en-US" b="1" dirty="0"/>
              <a:t>factor</a:t>
            </a:r>
            <a:r>
              <a:rPr lang="en-US" dirty="0"/>
              <a:t>) for storing different types of information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D3EC00-2324-5845-A254-8FAFCD152E3B}"/>
              </a:ext>
            </a:extLst>
          </p:cNvPr>
          <p:cNvGraphicFramePr>
            <a:graphicFrameLocks noGrp="1"/>
          </p:cNvGraphicFramePr>
          <p:nvPr/>
        </p:nvGraphicFramePr>
        <p:xfrm>
          <a:off x="2638505" y="4538488"/>
          <a:ext cx="7714871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0803">
                  <a:extLst>
                    <a:ext uri="{9D8B030D-6E8A-4147-A177-3AD203B41FA5}">
                      <a16:colId xmlns:a16="http://schemas.microsoft.com/office/drawing/2014/main" val="4255342217"/>
                    </a:ext>
                  </a:extLst>
                </a:gridCol>
                <a:gridCol w="4988222">
                  <a:extLst>
                    <a:ext uri="{9D8B030D-6E8A-4147-A177-3AD203B41FA5}">
                      <a16:colId xmlns:a16="http://schemas.microsoft.com/office/drawing/2014/main" val="3509737584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265639157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Possible values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Can it math?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11364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logical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FALSE or TRUE (or NA)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yes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63495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numeric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all numbers (or NA / </a:t>
                      </a:r>
                      <a:r>
                        <a:rPr lang="en-US" sz="2000" u="none" strike="noStrike" dirty="0" err="1">
                          <a:effectLst/>
                        </a:rPr>
                        <a:t>NaN</a:t>
                      </a:r>
                      <a:r>
                        <a:rPr lang="en-US" sz="2000" u="none" strike="noStrike" dirty="0">
                          <a:effectLst/>
                        </a:rPr>
                        <a:t> / Inf)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yes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235466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most combinations of letters, numbers, and special characters </a:t>
                      </a:r>
                      <a:r>
                        <a:rPr lang="en-US" sz="2000" b="1" u="none" strike="noStrike" dirty="0">
                          <a:effectLst/>
                        </a:rPr>
                        <a:t>from a defined set </a:t>
                      </a:r>
                      <a:r>
                        <a:rPr lang="en-US" sz="2000" u="none" strike="noStrike" dirty="0">
                          <a:effectLst/>
                        </a:rPr>
                        <a:t>(or &lt;NA&gt;)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20077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character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u="none" strike="noStrike" dirty="0">
                          <a:effectLst/>
                        </a:rPr>
                        <a:t>most combinations of letters, numbers, and special characters (or &lt;NA&gt;)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no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51344895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301DAF-A346-EC4D-D222-553AA081CD40}"/>
              </a:ext>
            </a:extLst>
          </p:cNvPr>
          <p:cNvCxnSpPr>
            <a:cxnSpLocks/>
          </p:cNvCxnSpPr>
          <p:nvPr/>
        </p:nvCxnSpPr>
        <p:spPr>
          <a:xfrm>
            <a:off x="2214452" y="4493852"/>
            <a:ext cx="0" cy="23042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08514F-FF6D-BB73-D82E-75E59301B4E9}"/>
              </a:ext>
            </a:extLst>
          </p:cNvPr>
          <p:cNvSpPr txBox="1">
            <a:spLocks/>
          </p:cNvSpPr>
          <p:nvPr/>
        </p:nvSpPr>
        <p:spPr>
          <a:xfrm>
            <a:off x="117747" y="4888958"/>
            <a:ext cx="2077409" cy="15140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Can be changed into a different class without losing information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1CBEF9-11AF-6712-ACEA-A64A99B7B29F}"/>
              </a:ext>
            </a:extLst>
          </p:cNvPr>
          <p:cNvCxnSpPr>
            <a:cxnSpLocks/>
          </p:cNvCxnSpPr>
          <p:nvPr/>
        </p:nvCxnSpPr>
        <p:spPr>
          <a:xfrm flipV="1">
            <a:off x="2479922" y="5329083"/>
            <a:ext cx="0" cy="462116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CB9D589-D99A-2DB6-A1B2-051A0718EBE2}"/>
              </a:ext>
            </a:extLst>
          </p:cNvPr>
          <p:cNvSpPr txBox="1"/>
          <p:nvPr/>
        </p:nvSpPr>
        <p:spPr>
          <a:xfrm>
            <a:off x="10440841" y="4866967"/>
            <a:ext cx="1633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u="none" strike="noStrike" dirty="0">
                <a:effectLst/>
              </a:rPr>
              <a:t>FALSE = 0, TRUE = 1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5AD5EA-CA54-DD6C-89B2-A14949676B29}"/>
              </a:ext>
            </a:extLst>
          </p:cNvPr>
          <p:cNvSpPr txBox="1"/>
          <p:nvPr/>
        </p:nvSpPr>
        <p:spPr>
          <a:xfrm>
            <a:off x="3346865" y="4221537"/>
            <a:ext cx="51383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u="none" strike="noStrike" dirty="0">
                <a:effectLst/>
              </a:rPr>
              <a:t>Don’t worry about memorizing this, it’s just for reference!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3404463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652BA-5FBA-2BA9-8B25-68DE4DFE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252A-5EA4-C28C-69EE-4DE4059D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181BB37-7831-B9DB-ADBB-0E97622A034B}"/>
              </a:ext>
            </a:extLst>
          </p:cNvPr>
          <p:cNvSpPr txBox="1">
            <a:spLocks/>
          </p:cNvSpPr>
          <p:nvPr/>
        </p:nvSpPr>
        <p:spPr>
          <a:xfrm>
            <a:off x="2054552" y="2059996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D464F-29E8-66D4-A21A-0FEBAA98EE4C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 of these things can come together to store data in DATA FRAMES!</a:t>
            </a:r>
          </a:p>
          <a:p>
            <a:endParaRPr lang="en-US" dirty="0"/>
          </a:p>
        </p:txBody>
      </p:sp>
      <p:pic>
        <p:nvPicPr>
          <p:cNvPr id="2050" name="Picture 2" descr="R-Data Frames - GeeksforGeeks">
            <a:extLst>
              <a:ext uri="{FF2B5EF4-FFF2-40B4-BE49-F238E27FC236}">
                <a16:creationId xmlns:a16="http://schemas.microsoft.com/office/drawing/2014/main" id="{9747767C-FB44-A1D7-199F-FFAF0E445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51" y="1784697"/>
            <a:ext cx="7620000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595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6D0B-E040-A4CA-2DFB-0595F333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81" y="2562060"/>
            <a:ext cx="10515600" cy="1325563"/>
          </a:xfrm>
        </p:spPr>
        <p:txBody>
          <a:bodyPr/>
          <a:lstStyle/>
          <a:p>
            <a:r>
              <a:rPr lang="en-US" dirty="0"/>
              <a:t>Base R is the BUILDING BLOCKS!</a:t>
            </a:r>
          </a:p>
        </p:txBody>
      </p:sp>
    </p:spTree>
    <p:extLst>
      <p:ext uri="{BB962C8B-B14F-4D97-AF65-F5344CB8AC3E}">
        <p14:creationId xmlns:p14="http://schemas.microsoft.com/office/powerpoint/2010/main" val="19005739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2290-42F5-B0B6-F6FF-C2A3CC0D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0389-75BE-CF6D-180D-4E735025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is Base R Practically Good for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96EB-D748-B3D3-4941-64FA6068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Development </a:t>
            </a:r>
          </a:p>
          <a:p>
            <a:r>
              <a:rPr lang="en-US" dirty="0"/>
              <a:t>Simulations </a:t>
            </a:r>
          </a:p>
          <a:p>
            <a:r>
              <a:rPr lang="en-US" dirty="0"/>
              <a:t>Time efficiency</a:t>
            </a:r>
          </a:p>
          <a:p>
            <a:r>
              <a:rPr lang="en-US" dirty="0"/>
              <a:t>Advanced Statistics</a:t>
            </a:r>
          </a:p>
          <a:p>
            <a:r>
              <a:rPr lang="en-US" dirty="0"/>
              <a:t>Collaboration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Low Dependencies</a:t>
            </a:r>
          </a:p>
          <a:p>
            <a:r>
              <a:rPr lang="en-US" dirty="0"/>
              <a:t>EXCELLENT FOR PROGRAMMING </a:t>
            </a:r>
          </a:p>
        </p:txBody>
      </p:sp>
    </p:spTree>
    <p:extLst>
      <p:ext uri="{BB962C8B-B14F-4D97-AF65-F5344CB8AC3E}">
        <p14:creationId xmlns:p14="http://schemas.microsoft.com/office/powerpoint/2010/main" val="3213460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C80E-B2CF-2B38-82FE-53380CA5E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EFE1-EDC0-056F-6E0E-B0B113CA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need these things in your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AB28-29BD-2346-E9C0-21CA08F2E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Software Development </a:t>
            </a:r>
          </a:p>
          <a:p>
            <a:r>
              <a:rPr lang="en-US" strike="sngStrike" dirty="0"/>
              <a:t>Simulations</a:t>
            </a:r>
            <a:r>
              <a:rPr lang="en-US" dirty="0"/>
              <a:t> </a:t>
            </a:r>
          </a:p>
          <a:p>
            <a:r>
              <a:rPr lang="en-US" strike="sngStrike" dirty="0"/>
              <a:t>Time efficiency</a:t>
            </a:r>
          </a:p>
          <a:p>
            <a:r>
              <a:rPr lang="en-US" strike="sngStrike" dirty="0"/>
              <a:t>Advanced Statistics</a:t>
            </a:r>
          </a:p>
          <a:p>
            <a:r>
              <a:rPr lang="en-US" dirty="0"/>
              <a:t>Collaboration</a:t>
            </a:r>
          </a:p>
          <a:p>
            <a:r>
              <a:rPr lang="en-US" strike="sngStrike" dirty="0"/>
              <a:t>Package Development</a:t>
            </a:r>
          </a:p>
          <a:p>
            <a:r>
              <a:rPr lang="en-US" strike="sngStrike" dirty="0"/>
              <a:t>Debugging</a:t>
            </a:r>
          </a:p>
          <a:p>
            <a:r>
              <a:rPr lang="en-US" strike="sngStrike" dirty="0"/>
              <a:t>EXCELLENT FOR PROGRAMMING </a:t>
            </a:r>
          </a:p>
        </p:txBody>
      </p:sp>
    </p:spTree>
    <p:extLst>
      <p:ext uri="{BB962C8B-B14F-4D97-AF65-F5344CB8AC3E}">
        <p14:creationId xmlns:p14="http://schemas.microsoft.com/office/powerpoint/2010/main" val="1239402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C06C8-9B71-E0CC-2E5D-198825FF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BBE0-5811-948D-8BA6-86D7073E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CCAD-A820-9D6C-E710-16F6615F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contain functions that help us do things without having to write a ton of code</a:t>
            </a:r>
          </a:p>
          <a:p>
            <a:r>
              <a:rPr lang="en-US" dirty="0"/>
              <a:t>Let’s write an example script together to look at how this works </a:t>
            </a:r>
          </a:p>
        </p:txBody>
      </p:sp>
    </p:spTree>
    <p:extLst>
      <p:ext uri="{BB962C8B-B14F-4D97-AF65-F5344CB8AC3E}">
        <p14:creationId xmlns:p14="http://schemas.microsoft.com/office/powerpoint/2010/main" val="5246021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613D-866C-6890-418C-DB65D719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our goals in R?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156B65-F9C0-3561-38F1-DA56E7B0D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Results From the Survey You Took indicate</a:t>
            </a:r>
          </a:p>
          <a:p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Summarize data and Calculate Statistics</a:t>
            </a:r>
          </a:p>
          <a:p>
            <a:pPr marL="514350" indent="-514350">
              <a:buAutoNum type="arabicPeriod"/>
            </a:pPr>
            <a:r>
              <a:rPr lang="en-US" dirty="0"/>
              <a:t>Data manipulation </a:t>
            </a:r>
          </a:p>
          <a:p>
            <a:pPr marL="514350" indent="-514350">
              <a:buAutoNum type="arabicPeriod"/>
            </a:pPr>
            <a:r>
              <a:rPr lang="en-US" dirty="0"/>
              <a:t>Importing and Cleaning data</a:t>
            </a:r>
          </a:p>
          <a:p>
            <a:pPr marL="514350" indent="-514350">
              <a:buAutoNum type="arabicPeriod"/>
            </a:pPr>
            <a:r>
              <a:rPr lang="en-US" dirty="0"/>
              <a:t>Data visualization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77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12CA4-2481-F4DC-CBB4-9C539D70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C416-C164-218B-1955-E86BB3F7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Base R fit our needs?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A4FDC4-55F2-BDB1-A4F2-442C3432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Summarize data and Calculate Statistics</a:t>
            </a:r>
          </a:p>
          <a:p>
            <a:pPr marL="514350" indent="-514350">
              <a:buAutoNum type="arabicPeriod"/>
            </a:pPr>
            <a:r>
              <a:rPr lang="en-US" dirty="0"/>
              <a:t>Data manipulation </a:t>
            </a:r>
          </a:p>
          <a:p>
            <a:pPr marL="514350" indent="-514350">
              <a:buAutoNum type="arabicPeriod"/>
            </a:pPr>
            <a:r>
              <a:rPr lang="en-US" dirty="0"/>
              <a:t>Importing and Cleaning data</a:t>
            </a:r>
          </a:p>
          <a:p>
            <a:pPr marL="514350" indent="-514350">
              <a:buAutoNum type="arabicPeriod"/>
            </a:pPr>
            <a:r>
              <a:rPr lang="en-US" dirty="0"/>
              <a:t>Data visualization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technically could, but we would have to use a lot of confusing syntax and build a lot of our own functions 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803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66C4-C434-D860-E9D1-AE942FF6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2A41-4821-576D-26ED-0463C540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another solution? </a:t>
            </a:r>
          </a:p>
        </p:txBody>
      </p:sp>
      <p:pic>
        <p:nvPicPr>
          <p:cNvPr id="1026" name="Picture 2" descr="Chapter 6 Lab 4 - 20/10/2022 | R Crash Course (for EF students) - 2022/23">
            <a:extLst>
              <a:ext uri="{FF2B5EF4-FFF2-40B4-BE49-F238E27FC236}">
                <a16:creationId xmlns:a16="http://schemas.microsoft.com/office/drawing/2014/main" id="{93A8FAA9-B677-E8B2-CB97-61A008339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657" y="1271264"/>
            <a:ext cx="8005247" cy="5420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344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8BF-2AFB-2343-13E3-C5A3EBD5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5603-2781-9887-1861-B228E93A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6D08D2-B30A-6C60-F354-EB631753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Collection of Packages that are useful for data analysis and visualization </a:t>
            </a:r>
          </a:p>
          <a:p>
            <a:r>
              <a:rPr lang="en-US" dirty="0"/>
              <a:t>We will be using a few in particular to tackle our goals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Summarize data and Calculate Statistics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DPLYR</a:t>
            </a: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AutoNum type="arabicPeriod"/>
            </a:pPr>
            <a:r>
              <a:rPr lang="en-US" dirty="0"/>
              <a:t>Data manipulation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DPLYR</a:t>
            </a: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AutoNum type="arabicPeriod"/>
            </a:pPr>
            <a:r>
              <a:rPr lang="en-US" dirty="0"/>
              <a:t>Importing and Cleaning data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READR</a:t>
            </a:r>
            <a:endParaRPr lang="en-US" dirty="0">
              <a:highlight>
                <a:srgbClr val="FFFF00"/>
              </a:highlight>
            </a:endParaRPr>
          </a:p>
          <a:p>
            <a:pPr marL="514350" indent="-514350">
              <a:buAutoNum type="arabicPeriod"/>
            </a:pPr>
            <a:r>
              <a:rPr lang="en-US" dirty="0"/>
              <a:t>Data visualization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GGPLOT2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9258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5CEB-1848-016D-B741-E84B5D68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82C4-0508-D6C2-AD44-FA650A13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Tidyverse</a:t>
            </a:r>
            <a:r>
              <a:rPr lang="en-US" dirty="0"/>
              <a:t> or base R? </a:t>
            </a:r>
          </a:p>
        </p:txBody>
      </p:sp>
      <p:pic>
        <p:nvPicPr>
          <p:cNvPr id="6" name="Content Placeholder 5" descr="A picture containing text&#10;&#10;AI-generated content may be incorrect.">
            <a:extLst>
              <a:ext uri="{FF2B5EF4-FFF2-40B4-BE49-F238E27FC236}">
                <a16:creationId xmlns:a16="http://schemas.microsoft.com/office/drawing/2014/main" id="{6B74308B-EB75-ECBC-E2D5-D6FF92161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09528" y="1825625"/>
            <a:ext cx="95729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3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6CF4A180E6D447A4FAA4588D642A7A" ma:contentTypeVersion="10" ma:contentTypeDescription="Create a new document." ma:contentTypeScope="" ma:versionID="ecafc22849e427eb8bff4596ba84ee04">
  <xsd:schema xmlns:xsd="http://www.w3.org/2001/XMLSchema" xmlns:xs="http://www.w3.org/2001/XMLSchema" xmlns:p="http://schemas.microsoft.com/office/2006/metadata/properties" xmlns:ns3="2b63386a-036e-430e-a881-dcde90bc1dec" targetNamespace="http://schemas.microsoft.com/office/2006/metadata/properties" ma:root="true" ma:fieldsID="ec6a1e59f7efbe04484e9791e2c98420" ns3:_="">
    <xsd:import namespace="2b63386a-036e-430e-a881-dcde90bc1d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63386a-036e-430e-a881-dcde90bc1d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63386a-036e-430e-a881-dcde90bc1dec" xsi:nil="true"/>
  </documentManagement>
</p:properties>
</file>

<file path=customXml/itemProps1.xml><?xml version="1.0" encoding="utf-8"?>
<ds:datastoreItem xmlns:ds="http://schemas.openxmlformats.org/officeDocument/2006/customXml" ds:itemID="{5EB3D3EF-C45E-4A09-BAD8-BB6193CA07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63386a-036e-430e-a881-dcde90bc1d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082032-068A-4CC7-A6FC-F9D1E28B56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777FF-C02B-44E4-9A7B-9CD2B1B00522}">
  <ds:schemaRefs>
    <ds:schemaRef ds:uri="http://schemas.microsoft.com/office/2006/documentManagement/types"/>
    <ds:schemaRef ds:uri="http://schemas.openxmlformats.org/package/2006/metadata/core-properties"/>
    <ds:schemaRef ds:uri="2b63386a-036e-430e-a881-dcde90bc1dec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5799</Words>
  <Application>Microsoft Office PowerPoint</Application>
  <PresentationFormat>Widescreen</PresentationFormat>
  <Paragraphs>798</Paragraphs>
  <Slides>60</Slides>
  <Notes>44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Courier New</vt:lpstr>
      <vt:lpstr>Wingdings</vt:lpstr>
      <vt:lpstr>Office Theme</vt:lpstr>
      <vt:lpstr>The Structure of R</vt:lpstr>
      <vt:lpstr>Base R</vt:lpstr>
      <vt:lpstr>R Programming Basics, in Base R </vt:lpstr>
      <vt:lpstr>Easy Things with Numbers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Poke the box R console!</vt:lpstr>
      <vt:lpstr>What if I have more than one number?</vt:lpstr>
      <vt:lpstr>Introducing vector operations…</vt:lpstr>
      <vt:lpstr>Introducing vector operations…</vt:lpstr>
      <vt:lpstr>What if I have more than one number?</vt:lpstr>
      <vt:lpstr>What if I have more than one number?</vt:lpstr>
      <vt:lpstr>Other Data Types </vt:lpstr>
      <vt:lpstr>PowerPoint Presentation</vt:lpstr>
      <vt:lpstr>PowerPoint Presentation</vt:lpstr>
      <vt:lpstr>Classes of vectors: R can store different kinds of information</vt:lpstr>
      <vt:lpstr>Classes of vectors</vt:lpstr>
      <vt:lpstr>So what did I mean about changing classes? </vt:lpstr>
      <vt:lpstr>So what did I mean about changing classes? </vt:lpstr>
      <vt:lpstr>Why do we care???</vt:lpstr>
      <vt:lpstr>Btw: yes, we can change classes manually</vt:lpstr>
      <vt:lpstr>One last vector class: factor</vt:lpstr>
      <vt:lpstr>When to use character?</vt:lpstr>
      <vt:lpstr>Simple Functions</vt:lpstr>
      <vt:lpstr>Help!</vt:lpstr>
      <vt:lpstr>Some operators &amp; functions…</vt:lpstr>
      <vt:lpstr>Some operators &amp; functions…</vt:lpstr>
      <vt:lpstr>Some operators &amp; functions…</vt:lpstr>
      <vt:lpstr>Let’s talk about NA</vt:lpstr>
      <vt:lpstr>More Functions: Non-numeric data types</vt:lpstr>
      <vt:lpstr>PowerPoint Presentation</vt:lpstr>
      <vt:lpstr>PowerPoint Presentation</vt:lpstr>
      <vt:lpstr>BASE R = BUILDING BLOCKS!  </vt:lpstr>
      <vt:lpstr>How does this all relate to the Data we are used to?</vt:lpstr>
      <vt:lpstr>PowerPoint Presentation</vt:lpstr>
      <vt:lpstr>Vectors: data in one dimension</vt:lpstr>
      <vt:lpstr>Vectors: data in one dimension</vt:lpstr>
      <vt:lpstr>Introducing matrices: Double the dimensions, double the fun!</vt:lpstr>
      <vt:lpstr>Introducing matrices: Double the dimensions, double the fun!</vt:lpstr>
      <vt:lpstr>Introducing data.frames: It’s beginning to look a lot like data!</vt:lpstr>
      <vt:lpstr>Introducing data.frames: It’s beginning to look a lot like data!</vt:lpstr>
      <vt:lpstr>Concepts to take away from this session:</vt:lpstr>
      <vt:lpstr>Concepts to take away from this session:</vt:lpstr>
      <vt:lpstr>Concepts to take away from this session:</vt:lpstr>
      <vt:lpstr>Concepts to take away from this session:</vt:lpstr>
      <vt:lpstr>Concepts to take away from this session:</vt:lpstr>
      <vt:lpstr>Concepts to take away from this session:</vt:lpstr>
      <vt:lpstr>Base R is the BUILDING BLOCKS!</vt:lpstr>
      <vt:lpstr>But What is Base R Practically Good for </vt:lpstr>
      <vt:lpstr>Do you need these things in your work?</vt:lpstr>
      <vt:lpstr>What are Packages?</vt:lpstr>
      <vt:lpstr>What are our goals in R? </vt:lpstr>
      <vt:lpstr>Does Base R fit our needs? </vt:lpstr>
      <vt:lpstr>Is there another solution? </vt:lpstr>
      <vt:lpstr>Tidyverse</vt:lpstr>
      <vt:lpstr>Tidyverse or base R? 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Tyers, Matt B (DFG)</dc:creator>
  <cp:lastModifiedBy>Chari, Maya R (DFG)</cp:lastModifiedBy>
  <cp:revision>58</cp:revision>
  <dcterms:created xsi:type="dcterms:W3CDTF">2023-10-16T19:54:21Z</dcterms:created>
  <dcterms:modified xsi:type="dcterms:W3CDTF">2026-02-11T19:23:03Z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0x010100A66CF4A180E6D447A4FAA4588D642A7A</vt:lpwstr>
  </property>
</Properties>
</file>